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27"/>
  </p:notesMasterIdLst>
  <p:sldIdLst>
    <p:sldId id="263" r:id="rId6"/>
    <p:sldId id="667" r:id="rId7"/>
    <p:sldId id="652" r:id="rId8"/>
    <p:sldId id="659" r:id="rId9"/>
    <p:sldId id="668" r:id="rId10"/>
    <p:sldId id="669" r:id="rId11"/>
    <p:sldId id="657" r:id="rId12"/>
    <p:sldId id="658" r:id="rId13"/>
    <p:sldId id="321" r:id="rId14"/>
    <p:sldId id="318" r:id="rId15"/>
    <p:sldId id="305" r:id="rId16"/>
    <p:sldId id="264" r:id="rId17"/>
    <p:sldId id="660" r:id="rId18"/>
    <p:sldId id="275" r:id="rId19"/>
    <p:sldId id="665" r:id="rId20"/>
    <p:sldId id="273" r:id="rId21"/>
    <p:sldId id="288" r:id="rId22"/>
    <p:sldId id="670" r:id="rId23"/>
    <p:sldId id="666" r:id="rId24"/>
    <p:sldId id="297" r:id="rId25"/>
    <p:sldId id="280" r:id="rId26"/>
  </p:sldIdLst>
  <p:sldSz cx="12192000" cy="6858000"/>
  <p:notesSz cx="6858000" cy="9144000"/>
  <p:custDataLst>
    <p:tags r:id="rId28"/>
  </p:custDataLst>
  <p:defaultTextStyle>
    <a:defPPr>
      <a:defRPr lang="en-GB"/>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9AA6"/>
    <a:srgbClr val="8F9AA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4713FA-B0F5-1433-E682-848E87758EA1}" v="5" dt="2025-11-07T10:46:38.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33" autoAdjust="0"/>
    <p:restoredTop sz="69841" autoAdjust="0"/>
  </p:normalViewPr>
  <p:slideViewPr>
    <p:cSldViewPr snapToGrid="0">
      <p:cViewPr varScale="1">
        <p:scale>
          <a:sx n="79" d="100"/>
          <a:sy n="79" d="100"/>
        </p:scale>
        <p:origin x="666" y="7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409"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llian O'Brien" userId="S::55011616@ad.mmu.ac.uk::90f3773e-4d88-4534-aa6b-2e10dfebb80e" providerId="AD" clId="Web-{F14713FA-B0F5-1433-E682-848E87758EA1}"/>
    <pc:docChg chg="modSld">
      <pc:chgData name="Killian O'Brien" userId="S::55011616@ad.mmu.ac.uk::90f3773e-4d88-4534-aa6b-2e10dfebb80e" providerId="AD" clId="Web-{F14713FA-B0F5-1433-E682-848E87758EA1}" dt="2025-11-07T10:46:38.053" v="2"/>
      <pc:docMkLst>
        <pc:docMk/>
      </pc:docMkLst>
      <pc:sldChg chg="modSp">
        <pc:chgData name="Killian O'Brien" userId="S::55011616@ad.mmu.ac.uk::90f3773e-4d88-4534-aa6b-2e10dfebb80e" providerId="AD" clId="Web-{F14713FA-B0F5-1433-E682-848E87758EA1}" dt="2025-11-07T10:46:38.053" v="2"/>
        <pc:sldMkLst>
          <pc:docMk/>
          <pc:sldMk cId="3154820444" sldId="275"/>
        </pc:sldMkLst>
        <pc:picChg chg="mod">
          <ac:chgData name="Killian O'Brien" userId="S::55011616@ad.mmu.ac.uk::90f3773e-4d88-4534-aa6b-2e10dfebb80e" providerId="AD" clId="Web-{F14713FA-B0F5-1433-E682-848E87758EA1}" dt="2025-11-07T10:46:38.053" v="2"/>
          <ac:picMkLst>
            <pc:docMk/>
            <pc:sldMk cId="3154820444" sldId="275"/>
            <ac:picMk id="4" creationId="{381391A2-8BD5-CEB0-CA06-FBA652A64668}"/>
          </ac:picMkLst>
        </pc:picChg>
      </pc:sldChg>
      <pc:sldChg chg="modSp">
        <pc:chgData name="Killian O'Brien" userId="S::55011616@ad.mmu.ac.uk::90f3773e-4d88-4534-aa6b-2e10dfebb80e" providerId="AD" clId="Web-{F14713FA-B0F5-1433-E682-848E87758EA1}" dt="2025-11-07T10:42:38.097" v="1" actId="20577"/>
        <pc:sldMkLst>
          <pc:docMk/>
          <pc:sldMk cId="0" sldId="280"/>
        </pc:sldMkLst>
        <pc:spChg chg="mod">
          <ac:chgData name="Killian O'Brien" userId="S::55011616@ad.mmu.ac.uk::90f3773e-4d88-4534-aa6b-2e10dfebb80e" providerId="AD" clId="Web-{F14713FA-B0F5-1433-E682-848E87758EA1}" dt="2025-11-07T10:42:38.097" v="1" actId="20577"/>
          <ac:spMkLst>
            <pc:docMk/>
            <pc:sldMk cId="0" sldId="280"/>
            <ac:spMk id="2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E9F001-D9F8-409F-8A07-F31D127CA617}" type="datetimeFigureOut">
              <a:rPr lang="en-GB" smtClean="0"/>
              <a:t>07/11/2025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85F16-C452-46DC-96D7-F6700810A793}" type="slidenum">
              <a:rPr lang="en-GB" smtClean="0"/>
              <a:t>‹#›</a:t>
            </a:fld>
            <a:endParaRPr lang="en-GB"/>
          </a:p>
        </p:txBody>
      </p:sp>
    </p:spTree>
    <p:extLst>
      <p:ext uri="{BB962C8B-B14F-4D97-AF65-F5344CB8AC3E}">
        <p14:creationId xmlns:p14="http://schemas.microsoft.com/office/powerpoint/2010/main" val="92527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321E32A-C698-4523-A569-F8302720737B}" type="slidenum">
              <a:rPr lang="en-GB" smtClean="0">
                <a:solidFill>
                  <a:prstClr val="black"/>
                </a:solidFill>
              </a:rPr>
              <a:pPr/>
              <a:t>2</a:t>
            </a:fld>
            <a:endParaRPr lang="en-GB">
              <a:solidFill>
                <a:prstClr val="black"/>
              </a:solidFill>
            </a:endParaRPr>
          </a:p>
        </p:txBody>
      </p:sp>
    </p:spTree>
    <p:extLst>
      <p:ext uri="{BB962C8B-B14F-4D97-AF65-F5344CB8AC3E}">
        <p14:creationId xmlns:p14="http://schemas.microsoft.com/office/powerpoint/2010/main" val="1364331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Re-cap key details from assignment. Can ask lecturer if they’d like to add anything else at this point.  </a:t>
            </a:r>
          </a:p>
        </p:txBody>
      </p:sp>
      <p:sp>
        <p:nvSpPr>
          <p:cNvPr id="4" name="Slide Number Placeholder 3"/>
          <p:cNvSpPr>
            <a:spLocks noGrp="1"/>
          </p:cNvSpPr>
          <p:nvPr>
            <p:ph type="sldNum" sz="quarter" idx="5"/>
          </p:nvPr>
        </p:nvSpPr>
        <p:spPr/>
        <p:txBody>
          <a:bodyPr/>
          <a:lstStyle/>
          <a:p>
            <a:fld id="{3C685F16-C452-46DC-96D7-F6700810A793}" type="slidenum">
              <a:rPr lang="en-GB" smtClean="0"/>
              <a:t>3</a:t>
            </a:fld>
            <a:endParaRPr lang="en-GB"/>
          </a:p>
        </p:txBody>
      </p:sp>
    </p:spTree>
    <p:extLst>
      <p:ext uri="{BB962C8B-B14F-4D97-AF65-F5344CB8AC3E}">
        <p14:creationId xmlns:p14="http://schemas.microsoft.com/office/powerpoint/2010/main" val="1554650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Play video – collect students’ thoughts. There are a number of weaknesses (and possibly some strengths, e.g. volume, tone – audience interaction?!). The weaknesses are more fully summarised on the next slide. </a:t>
            </a:r>
          </a:p>
        </p:txBody>
      </p:sp>
      <p:sp>
        <p:nvSpPr>
          <p:cNvPr id="4" name="Slide Number Placeholder 3"/>
          <p:cNvSpPr>
            <a:spLocks noGrp="1"/>
          </p:cNvSpPr>
          <p:nvPr>
            <p:ph type="sldNum" sz="quarter" idx="5"/>
          </p:nvPr>
        </p:nvSpPr>
        <p:spPr/>
        <p:txBody>
          <a:bodyPr/>
          <a:lstStyle/>
          <a:p>
            <a:fld id="{3C685F16-C452-46DC-96D7-F6700810A793}" type="slidenum">
              <a:rPr lang="en-GB" smtClean="0"/>
              <a:t>4</a:t>
            </a:fld>
            <a:endParaRPr lang="en-GB"/>
          </a:p>
        </p:txBody>
      </p:sp>
    </p:spTree>
    <p:extLst>
      <p:ext uri="{BB962C8B-B14F-4D97-AF65-F5344CB8AC3E}">
        <p14:creationId xmlns:p14="http://schemas.microsoft.com/office/powerpoint/2010/main" val="333770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Talk through common presentation problems. The rest of the session will focus on ways to avoid them!</a:t>
            </a:r>
          </a:p>
        </p:txBody>
      </p:sp>
      <p:sp>
        <p:nvSpPr>
          <p:cNvPr id="4" name="Slide Number Placeholder 3"/>
          <p:cNvSpPr>
            <a:spLocks noGrp="1"/>
          </p:cNvSpPr>
          <p:nvPr>
            <p:ph type="sldNum" sz="quarter" idx="5"/>
          </p:nvPr>
        </p:nvSpPr>
        <p:spPr/>
        <p:txBody>
          <a:bodyPr/>
          <a:lstStyle/>
          <a:p>
            <a:fld id="{3C685F16-C452-46DC-96D7-F6700810A793}" type="slidenum">
              <a:rPr lang="en-GB" smtClean="0"/>
              <a:t>7</a:t>
            </a:fld>
            <a:endParaRPr lang="en-GB"/>
          </a:p>
        </p:txBody>
      </p:sp>
    </p:spTree>
    <p:extLst>
      <p:ext uri="{BB962C8B-B14F-4D97-AF65-F5344CB8AC3E}">
        <p14:creationId xmlns:p14="http://schemas.microsoft.com/office/powerpoint/2010/main" val="1330323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Talk through slide content. </a:t>
            </a:r>
          </a:p>
        </p:txBody>
      </p:sp>
      <p:sp>
        <p:nvSpPr>
          <p:cNvPr id="4" name="Slide Number Placeholder 3"/>
          <p:cNvSpPr>
            <a:spLocks noGrp="1"/>
          </p:cNvSpPr>
          <p:nvPr>
            <p:ph type="sldNum" sz="quarter" idx="5"/>
          </p:nvPr>
        </p:nvSpPr>
        <p:spPr/>
        <p:txBody>
          <a:bodyPr/>
          <a:lstStyle/>
          <a:p>
            <a:fld id="{3C685F16-C452-46DC-96D7-F6700810A793}" type="slidenum">
              <a:rPr lang="en-GB" smtClean="0"/>
              <a:t>8</a:t>
            </a:fld>
            <a:endParaRPr lang="en-GB"/>
          </a:p>
        </p:txBody>
      </p:sp>
    </p:spTree>
    <p:extLst>
      <p:ext uri="{BB962C8B-B14F-4D97-AF65-F5344CB8AC3E}">
        <p14:creationId xmlns:p14="http://schemas.microsoft.com/office/powerpoint/2010/main" val="3853838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general rule of thumb is one slide per minute (probably fewer!), so aim for </a:t>
            </a:r>
            <a:r>
              <a:rPr lang="en-GB" dirty="0">
                <a:solidFill>
                  <a:srgbClr val="FF0000"/>
                </a:solidFill>
              </a:rPr>
              <a:t>7-10</a:t>
            </a:r>
            <a:r>
              <a:rPr lang="en-GB" dirty="0"/>
              <a:t> slides (including title / reference slide) for this presentation.</a:t>
            </a:r>
          </a:p>
          <a:p>
            <a:r>
              <a:rPr lang="en-GB" dirty="0"/>
              <a:t>Remember:</a:t>
            </a:r>
          </a:p>
          <a:p>
            <a:pPr lvl="1"/>
            <a:r>
              <a:rPr lang="en-GB" dirty="0"/>
              <a:t>Certain slides can be delivered quickly: ask students for an example. (e.g., team introductions).</a:t>
            </a:r>
          </a:p>
          <a:p>
            <a:pPr lvl="1"/>
            <a:r>
              <a:rPr lang="en-GB" dirty="0"/>
              <a:t>Others may need several minutes to explain. </a:t>
            </a:r>
          </a:p>
          <a:p>
            <a:r>
              <a:rPr lang="en-GB" dirty="0"/>
              <a:t>The time limit gives you an indication of the level of detail expected from you.</a:t>
            </a:r>
          </a:p>
          <a:p>
            <a:r>
              <a:rPr lang="en-GB" dirty="0"/>
              <a:t>Activity next on slide design: what do you think of the next slide. </a:t>
            </a:r>
          </a:p>
        </p:txBody>
      </p:sp>
      <p:sp>
        <p:nvSpPr>
          <p:cNvPr id="4" name="Slide Number Placeholder 3"/>
          <p:cNvSpPr>
            <a:spLocks noGrp="1"/>
          </p:cNvSpPr>
          <p:nvPr>
            <p:ph type="sldNum" sz="quarter" idx="5"/>
          </p:nvPr>
        </p:nvSpPr>
        <p:spPr/>
        <p:txBody>
          <a:bodyPr/>
          <a:lstStyle/>
          <a:p>
            <a:fld id="{84525DEB-CDDE-41BC-9011-5FD95D6877D2}" type="slidenum">
              <a:rPr lang="en-GB" smtClean="0"/>
              <a:t>9</a:t>
            </a:fld>
            <a:endParaRPr lang="en-GB"/>
          </a:p>
        </p:txBody>
      </p:sp>
    </p:spTree>
    <p:extLst>
      <p:ext uri="{BB962C8B-B14F-4D97-AF65-F5344CB8AC3E}">
        <p14:creationId xmlns:p14="http://schemas.microsoft.com/office/powerpoint/2010/main" val="1673852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Play animations and ask students to comment on some problems with this slide. </a:t>
            </a:r>
          </a:p>
          <a:p>
            <a:endParaRPr lang="en-GB" dirty="0"/>
          </a:p>
          <a:p>
            <a:r>
              <a:rPr lang="en-GB" dirty="0"/>
              <a:t>Spelling errors, repetitive title. </a:t>
            </a:r>
          </a:p>
          <a:p>
            <a:r>
              <a:rPr lang="en-GB" dirty="0"/>
              <a:t>Weird and pointless animations and sound effects.</a:t>
            </a:r>
          </a:p>
          <a:p>
            <a:r>
              <a:rPr lang="en-GB" dirty="0"/>
              <a:t>Background is too busy and hard to read text against. </a:t>
            </a:r>
          </a:p>
          <a:p>
            <a:r>
              <a:rPr lang="en-GB" dirty="0"/>
              <a:t>Text is small and doesn’t make good use of the space available. </a:t>
            </a:r>
          </a:p>
          <a:p>
            <a:r>
              <a:rPr lang="en-GB" dirty="0"/>
              <a:t>If students can manage to read the text, they will see it contains some further tips (summarised more clearly on the next slide). </a:t>
            </a:r>
          </a:p>
        </p:txBody>
      </p:sp>
      <p:sp>
        <p:nvSpPr>
          <p:cNvPr id="4" name="Slide Number Placeholder 3"/>
          <p:cNvSpPr>
            <a:spLocks noGrp="1"/>
          </p:cNvSpPr>
          <p:nvPr>
            <p:ph type="sldNum" sz="quarter" idx="10"/>
          </p:nvPr>
        </p:nvSpPr>
        <p:spPr/>
        <p:txBody>
          <a:bodyPr/>
          <a:lstStyle/>
          <a:p>
            <a:fld id="{C92CE3D0-F03F-4CC3-8A82-E886BA416A44}" type="slidenum">
              <a:rPr lang="en-GB" smtClean="0"/>
              <a:t>10</a:t>
            </a:fld>
            <a:endParaRPr lang="en-GB"/>
          </a:p>
        </p:txBody>
      </p:sp>
    </p:spTree>
    <p:extLst>
      <p:ext uri="{BB962C8B-B14F-4D97-AF65-F5344CB8AC3E}">
        <p14:creationId xmlns:p14="http://schemas.microsoft.com/office/powerpoint/2010/main" val="597492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Run through the top tips on visual aids</a:t>
            </a:r>
          </a:p>
        </p:txBody>
      </p:sp>
      <p:sp>
        <p:nvSpPr>
          <p:cNvPr id="4" name="Slide Number Placeholder 3"/>
          <p:cNvSpPr>
            <a:spLocks noGrp="1"/>
          </p:cNvSpPr>
          <p:nvPr>
            <p:ph type="sldNum" sz="quarter" idx="5"/>
          </p:nvPr>
        </p:nvSpPr>
        <p:spPr/>
        <p:txBody>
          <a:bodyPr/>
          <a:lstStyle/>
          <a:p>
            <a:fld id="{84525DEB-CDDE-41BC-9011-5FD95D6877D2}" type="slidenum">
              <a:rPr lang="en-GB" smtClean="0"/>
              <a:t>11</a:t>
            </a:fld>
            <a:endParaRPr lang="en-GB"/>
          </a:p>
        </p:txBody>
      </p:sp>
    </p:spTree>
    <p:extLst>
      <p:ext uri="{BB962C8B-B14F-4D97-AF65-F5344CB8AC3E}">
        <p14:creationId xmlns:p14="http://schemas.microsoft.com/office/powerpoint/2010/main" val="474104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defTabSz="914400" eaLnBrk="1" latinLnBrk="0" hangingPunct="1">
              <a:lnSpc>
                <a:spcPct val="90000"/>
              </a:lnSpc>
              <a:spcBef>
                <a:spcPct val="20000"/>
              </a:spcBef>
              <a:buSzPct val="95000"/>
              <a:buFont typeface="Arial" panose="020B0604020202020204" pitchFamily="34" charset="0"/>
              <a:buChar char="•"/>
              <a:tabLst/>
              <a:defRPr/>
            </a:pPr>
            <a:r>
              <a:rPr kumimoji="0" lang="en-GB" altLang="en-US" sz="1200" b="0" i="0" u="none" strike="noStrike" cap="none" spc="0" normalizeH="0" baseline="0" noProof="0" dirty="0">
                <a:ln>
                  <a:noFill/>
                </a:ln>
                <a:effectLst/>
                <a:uLnTx/>
                <a:uFillTx/>
                <a:latin typeface="+mn-lt"/>
              </a:rPr>
              <a:t>Clarity – audience needs to hear what is being said as well as understand what is on the slide. This is key.</a:t>
            </a:r>
          </a:p>
          <a:p>
            <a:pPr marL="457200" marR="0" lvl="0" indent="-228600" defTabSz="914400" eaLnBrk="1" latinLnBrk="0" hangingPunct="1">
              <a:lnSpc>
                <a:spcPct val="90000"/>
              </a:lnSpc>
              <a:spcBef>
                <a:spcPct val="20000"/>
              </a:spcBef>
              <a:buSzPct val="95000"/>
              <a:buFont typeface="Arial" panose="020B0604020202020204" pitchFamily="34" charset="0"/>
              <a:buChar char="•"/>
              <a:tabLst/>
              <a:defRPr/>
            </a:pPr>
            <a:r>
              <a:rPr kumimoji="0" lang="en-GB" altLang="en-US" sz="1200" b="0" i="0" u="none" strike="noStrike" cap="none" spc="0" normalizeH="0" baseline="0" noProof="0" dirty="0">
                <a:ln>
                  <a:noFill/>
                </a:ln>
                <a:effectLst/>
                <a:uLnTx/>
                <a:uFillTx/>
                <a:latin typeface="+mn-lt"/>
              </a:rPr>
              <a:t>Volume – speak slightly louder than usual as may need to project in large room.</a:t>
            </a:r>
          </a:p>
          <a:p>
            <a:pPr marL="457200" marR="0" lvl="0" indent="-228600" defTabSz="914400" eaLnBrk="1" latinLnBrk="0" hangingPunct="1">
              <a:lnSpc>
                <a:spcPct val="90000"/>
              </a:lnSpc>
              <a:spcBef>
                <a:spcPct val="20000"/>
              </a:spcBef>
              <a:buSzPct val="95000"/>
              <a:buFont typeface="Arial" panose="020B0604020202020204" pitchFamily="34" charset="0"/>
              <a:buChar char="•"/>
              <a:tabLst/>
              <a:defRPr/>
            </a:pPr>
            <a:r>
              <a:rPr kumimoji="0" lang="en-GB" altLang="en-US" sz="1200" b="0" i="0" u="none" strike="noStrike" cap="none" spc="0" normalizeH="0" baseline="0" noProof="0" dirty="0">
                <a:ln>
                  <a:noFill/>
                </a:ln>
                <a:effectLst/>
                <a:uLnTx/>
                <a:uFillTx/>
                <a:latin typeface="+mn-lt"/>
              </a:rPr>
              <a:t>Pace – focus on speaking slightly slower than usual as nerves can often lead to speeding up. </a:t>
            </a:r>
          </a:p>
          <a:p>
            <a:pPr marL="457200" marR="0" lvl="0" indent="-228600" defTabSz="914400" eaLnBrk="1" latinLnBrk="0" hangingPunct="1">
              <a:lnSpc>
                <a:spcPct val="90000"/>
              </a:lnSpc>
              <a:spcBef>
                <a:spcPct val="20000"/>
              </a:spcBef>
              <a:buSzPct val="95000"/>
              <a:buFont typeface="Arial" panose="020B0604020202020204" pitchFamily="34" charset="0"/>
              <a:buChar char="•"/>
              <a:tabLst/>
              <a:defRPr/>
            </a:pPr>
            <a:r>
              <a:rPr kumimoji="0" lang="en-GB" altLang="en-US" sz="1200" b="0" i="0" u="none" strike="noStrike" cap="none" spc="0" normalizeH="0" baseline="0" noProof="0" dirty="0">
                <a:ln>
                  <a:noFill/>
                </a:ln>
                <a:effectLst/>
                <a:uLnTx/>
                <a:uFillTx/>
                <a:latin typeface="+mn-lt"/>
              </a:rPr>
              <a:t>Intonation – try not to speak in a monotone but move your voice up and down, add stress, etc.</a:t>
            </a:r>
          </a:p>
          <a:p>
            <a:pPr marL="457200" marR="0" lvl="0" indent="-228600" defTabSz="914400" eaLnBrk="1" latinLnBrk="0" hangingPunct="1">
              <a:lnSpc>
                <a:spcPct val="90000"/>
              </a:lnSpc>
              <a:spcBef>
                <a:spcPct val="20000"/>
              </a:spcBef>
              <a:buSzPct val="95000"/>
              <a:buFont typeface="Arial" panose="020B0604020202020204" pitchFamily="34" charset="0"/>
              <a:buChar char="•"/>
              <a:tabLst/>
              <a:defRPr/>
            </a:pPr>
            <a:r>
              <a:rPr kumimoji="0" lang="en-GB" altLang="en-US" sz="1200" b="0" i="0" u="none" strike="noStrike" cap="none" spc="0" normalizeH="0" baseline="0" noProof="0" dirty="0">
                <a:ln>
                  <a:noFill/>
                </a:ln>
                <a:effectLst/>
                <a:uLnTx/>
                <a:uFillTx/>
                <a:latin typeface="+mn-lt"/>
              </a:rPr>
              <a:t>Accessibility – ensure that jargon isn’t used, i.e. unnecessarily complicated words or phrases. It’s not about you, it’s about the subject matter. </a:t>
            </a:r>
          </a:p>
          <a:p>
            <a:pPr marL="457200" marR="0" lvl="0" indent="-228600" defTabSz="914400" eaLnBrk="1" latinLnBrk="0" hangingPunct="1">
              <a:lnSpc>
                <a:spcPct val="90000"/>
              </a:lnSpc>
              <a:spcBef>
                <a:spcPct val="20000"/>
              </a:spcBef>
              <a:buSzPct val="95000"/>
              <a:buFont typeface="Arial" panose="020B0604020202020204" pitchFamily="34" charset="0"/>
              <a:buChar char="•"/>
              <a:tabLst/>
              <a:defRPr/>
            </a:pPr>
            <a:r>
              <a:rPr lang="en-GB" altLang="en-US" sz="1200" dirty="0">
                <a:latin typeface="+mn-lt"/>
              </a:rPr>
              <a:t>Emphasis – tone but also tell the audience what’s important by pointing or saying so.</a:t>
            </a:r>
            <a:endParaRPr kumimoji="0" lang="en-GB" altLang="en-US" sz="1200" b="0" i="0" u="none" strike="noStrike" cap="none" spc="0" normalizeH="0" baseline="0" noProof="0" dirty="0">
              <a:ln>
                <a:noFill/>
              </a:ln>
              <a:effectLst/>
              <a:uLnTx/>
              <a:uFillTx/>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dirty="0">
              <a:solidFill>
                <a:schemeClr val="bg1"/>
              </a:solidFill>
            </a:endParaRPr>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7FE19E7-AF39-4D05-9329-DE82486FA8BA}" type="slidenum">
              <a:rPr kumimoji="0" lang="en-GB"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37042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Talk through slide content. </a:t>
            </a:r>
          </a:p>
        </p:txBody>
      </p:sp>
      <p:sp>
        <p:nvSpPr>
          <p:cNvPr id="4" name="Slide Number Placeholder 3"/>
          <p:cNvSpPr>
            <a:spLocks noGrp="1"/>
          </p:cNvSpPr>
          <p:nvPr>
            <p:ph type="sldNum" sz="quarter" idx="5"/>
          </p:nvPr>
        </p:nvSpPr>
        <p:spPr/>
        <p:txBody>
          <a:bodyPr/>
          <a:lstStyle/>
          <a:p>
            <a:fld id="{3C685F16-C452-46DC-96D7-F6700810A793}" type="slidenum">
              <a:rPr lang="en-GB" smtClean="0"/>
              <a:t>13</a:t>
            </a:fld>
            <a:endParaRPr lang="en-GB"/>
          </a:p>
        </p:txBody>
      </p:sp>
    </p:spTree>
    <p:extLst>
      <p:ext uri="{BB962C8B-B14F-4D97-AF65-F5344CB8AC3E}">
        <p14:creationId xmlns:p14="http://schemas.microsoft.com/office/powerpoint/2010/main" val="488141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rgbClr val="1E1E1E"/>
                </a:solidFill>
                <a:latin typeface="Segoe UI" panose="020B0502040204020203" pitchFamily="34" charset="0"/>
              </a:rPr>
              <a:t>Ask students: </a:t>
            </a:r>
            <a:br>
              <a:rPr lang="en-GB" dirty="0">
                <a:solidFill>
                  <a:srgbClr val="1E1E1E"/>
                </a:solidFill>
                <a:latin typeface="Segoe UI" panose="020B0502040204020203" pitchFamily="34" charset="0"/>
              </a:rPr>
            </a:br>
            <a:r>
              <a:rPr lang="en-GB" dirty="0">
                <a:solidFill>
                  <a:srgbClr val="1E1E1E"/>
                </a:solidFill>
                <a:latin typeface="Segoe UI" panose="020B0502040204020203" pitchFamily="34" charset="0"/>
              </a:rPr>
              <a:t>a) do you rehearse at present? </a:t>
            </a:r>
            <a:br>
              <a:rPr lang="en-GB" dirty="0">
                <a:solidFill>
                  <a:srgbClr val="1E1E1E"/>
                </a:solidFill>
                <a:latin typeface="Segoe UI" panose="020B0502040204020203" pitchFamily="34" charset="0"/>
              </a:rPr>
            </a:br>
            <a:r>
              <a:rPr lang="en-GB" dirty="0">
                <a:solidFill>
                  <a:srgbClr val="1E1E1E"/>
                </a:solidFill>
                <a:latin typeface="Segoe UI" panose="020B0502040204020203" pitchFamily="34" charset="0"/>
              </a:rPr>
              <a:t>B) if so, how do you do this and how often?</a:t>
            </a:r>
            <a:br>
              <a:rPr lang="en-GB" dirty="0">
                <a:solidFill>
                  <a:srgbClr val="1E1E1E"/>
                </a:solidFill>
                <a:latin typeface="Segoe UI" panose="020B0502040204020203" pitchFamily="34" charset="0"/>
              </a:rPr>
            </a:br>
            <a:br>
              <a:rPr lang="en-GB" dirty="0">
                <a:solidFill>
                  <a:srgbClr val="1E1E1E"/>
                </a:solidFill>
                <a:latin typeface="Segoe UI" panose="020B0502040204020203" pitchFamily="34" charset="0"/>
              </a:rPr>
            </a:br>
            <a:r>
              <a:rPr lang="en-GB" dirty="0">
                <a:solidFill>
                  <a:srgbClr val="1E1E1E"/>
                </a:solidFill>
                <a:latin typeface="Segoe UI" panose="020B0502040204020203" pitchFamily="34" charset="0"/>
              </a:rPr>
              <a:t>Click to bring in Presenter Coach bp. It helps you prepare in private to give more effective presentations. It evaluates your pacing, pitch, use of filler words, informal speech, euphemisms, and culturally sensitive terms, and it detects when you're being overly wordy or are simply reading the text on a slide. After each rehearsal, you get a report that includes statistics and suggestions for improvements. Play the video.</a:t>
            </a:r>
          </a:p>
          <a:p>
            <a:r>
              <a:rPr lang="en-GB" b="0" i="0" dirty="0">
                <a:solidFill>
                  <a:srgbClr val="1E1E1E"/>
                </a:solidFill>
                <a:effectLst/>
                <a:latin typeface="Segoe UI" panose="020B0502040204020203" pitchFamily="34" charset="0"/>
              </a:rPr>
              <a:t>Click to bring in other bps. </a:t>
            </a:r>
          </a:p>
          <a:p>
            <a:r>
              <a:rPr lang="en-GB" dirty="0"/>
              <a:t>Stress: for all strategies you need to take notes, reflect, experiment and improve! </a:t>
            </a:r>
          </a:p>
        </p:txBody>
      </p:sp>
      <p:sp>
        <p:nvSpPr>
          <p:cNvPr id="4" name="Slide Number Placeholder 3"/>
          <p:cNvSpPr>
            <a:spLocks noGrp="1"/>
          </p:cNvSpPr>
          <p:nvPr>
            <p:ph type="sldNum" sz="quarter" idx="5"/>
          </p:nvPr>
        </p:nvSpPr>
        <p:spPr/>
        <p:txBody>
          <a:bodyPr/>
          <a:lstStyle/>
          <a:p>
            <a:fld id="{84525DEB-CDDE-41BC-9011-5FD95D6877D2}" type="slidenum">
              <a:rPr lang="en-GB" smtClean="0"/>
              <a:t>14</a:t>
            </a:fld>
            <a:endParaRPr lang="en-GB"/>
          </a:p>
        </p:txBody>
      </p:sp>
    </p:spTree>
    <p:extLst>
      <p:ext uri="{BB962C8B-B14F-4D97-AF65-F5344CB8AC3E}">
        <p14:creationId xmlns:p14="http://schemas.microsoft.com/office/powerpoint/2010/main" val="1829003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Pose opening question, wait for responses. </a:t>
            </a:r>
          </a:p>
          <a:p>
            <a:endParaRPr lang="en-GB" dirty="0"/>
          </a:p>
          <a:p>
            <a:r>
              <a:rPr lang="en-GB" dirty="0"/>
              <a:t>Benefits – division of labour, less focus on you individually. Help with answering questions. </a:t>
            </a:r>
          </a:p>
          <a:p>
            <a:r>
              <a:rPr lang="en-GB" dirty="0"/>
              <a:t>Challenges – dividing tasks equally, making sure everyone contributes, time management, ensuring a coherent appearance and flow to the presentation.</a:t>
            </a:r>
          </a:p>
        </p:txBody>
      </p:sp>
      <p:sp>
        <p:nvSpPr>
          <p:cNvPr id="4" name="Slide Number Placeholder 3"/>
          <p:cNvSpPr>
            <a:spLocks noGrp="1"/>
          </p:cNvSpPr>
          <p:nvPr>
            <p:ph type="sldNum" sz="quarter" idx="5"/>
          </p:nvPr>
        </p:nvSpPr>
        <p:spPr/>
        <p:txBody>
          <a:bodyPr/>
          <a:lstStyle/>
          <a:p>
            <a:fld id="{3C685F16-C452-46DC-96D7-F6700810A793}" type="slidenum">
              <a:rPr lang="en-GB" smtClean="0"/>
              <a:t>15</a:t>
            </a:fld>
            <a:endParaRPr lang="en-GB"/>
          </a:p>
        </p:txBody>
      </p:sp>
    </p:spTree>
    <p:extLst>
      <p:ext uri="{BB962C8B-B14F-4D97-AF65-F5344CB8AC3E}">
        <p14:creationId xmlns:p14="http://schemas.microsoft.com/office/powerpoint/2010/main" val="2368742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Nerves are normal; like stage fright. Once doing the presentation, likely will feel calmer. But, important it does not unduly effect your performance </a:t>
            </a:r>
          </a:p>
          <a:p>
            <a:r>
              <a:rPr lang="en-GB" dirty="0"/>
              <a:t>All natural problems, what is important it thinking about strategies to help you relax,… </a:t>
            </a:r>
          </a:p>
          <a:p>
            <a:pPr marL="640080" marR="0" lvl="1" indent="-246888" algn="l" defTabSz="914400" rtl="0" eaLnBrk="1" fontAlgn="auto" latinLnBrk="0" hangingPunct="1">
              <a:lnSpc>
                <a:spcPct val="160000"/>
              </a:lnSpc>
              <a:spcBef>
                <a:spcPts val="0"/>
              </a:spcBef>
              <a:spcAft>
                <a:spcPts val="0"/>
              </a:spcAft>
              <a:buClrTx/>
              <a:buSzTx/>
              <a:buFont typeface="Wingdings 2"/>
              <a:buChar char=""/>
              <a:tabLst/>
              <a:defRPr/>
            </a:pPr>
            <a:r>
              <a:rPr lang="en-GB" sz="8800" dirty="0">
                <a:solidFill>
                  <a:srgbClr val="002060"/>
                </a:solidFill>
                <a:latin typeface="Arial" charset="0"/>
                <a:cs typeface="Arial" charset="0"/>
              </a:rPr>
              <a:t>If you suffer from dry mouth, take a cup or bottle of water with you </a:t>
            </a:r>
          </a:p>
          <a:p>
            <a:pPr marL="640080" lvl="1" indent="-246888">
              <a:lnSpc>
                <a:spcPct val="160000"/>
              </a:lnSpc>
              <a:buFont typeface="Wingdings 2"/>
              <a:buChar char=""/>
              <a:defRPr/>
            </a:pPr>
            <a:r>
              <a:rPr lang="en-GB" sz="8800" dirty="0">
                <a:solidFill>
                  <a:srgbClr val="002060"/>
                </a:solidFill>
                <a:latin typeface="Arial" charset="0"/>
                <a:cs typeface="Arial" charset="0"/>
              </a:rPr>
              <a:t>Focus on breathing so not thinking about what doing. </a:t>
            </a:r>
          </a:p>
          <a:p>
            <a:pPr marL="640080" lvl="1" indent="-246888">
              <a:lnSpc>
                <a:spcPct val="160000"/>
              </a:lnSpc>
              <a:buFont typeface="Wingdings 2"/>
              <a:buChar char=""/>
              <a:defRPr/>
            </a:pPr>
            <a:r>
              <a:rPr lang="en-GB" sz="8800" dirty="0">
                <a:solidFill>
                  <a:srgbClr val="002060"/>
                </a:solidFill>
                <a:latin typeface="Arial" charset="0"/>
                <a:cs typeface="Arial" charset="0"/>
              </a:rPr>
              <a:t>Draw attention away from yourself: visual aids, dimmed lights etc</a:t>
            </a:r>
          </a:p>
          <a:p>
            <a:pPr marL="640080" lvl="1" indent="-246888">
              <a:lnSpc>
                <a:spcPct val="160000"/>
              </a:lnSpc>
              <a:buFont typeface="Wingdings 2"/>
              <a:buChar char=""/>
              <a:defRPr/>
            </a:pPr>
            <a:r>
              <a:rPr lang="en-GB" sz="8800" dirty="0">
                <a:solidFill>
                  <a:srgbClr val="002060"/>
                </a:solidFill>
                <a:latin typeface="Arial" charset="0"/>
                <a:cs typeface="Arial" charset="0"/>
              </a:rPr>
              <a:t>Ask your audience questions – make session more interactive </a:t>
            </a:r>
          </a:p>
          <a:p>
            <a:pPr marL="640080" lvl="1" indent="-246888">
              <a:lnSpc>
                <a:spcPct val="160000"/>
              </a:lnSpc>
              <a:buFont typeface="Wingdings 2"/>
              <a:buChar char=""/>
              <a:defRPr/>
            </a:pPr>
            <a:r>
              <a:rPr lang="en-GB" sz="8800" dirty="0">
                <a:solidFill>
                  <a:srgbClr val="002060"/>
                </a:solidFill>
                <a:latin typeface="Arial" charset="0"/>
                <a:cs typeface="Arial" charset="0"/>
              </a:rPr>
              <a:t>Give yourself time; pause at the start of each slide (this will also allow audience to reflect on past slide and read new one)</a:t>
            </a:r>
          </a:p>
          <a:p>
            <a:endParaRPr lang="en-GB" dirty="0"/>
          </a:p>
          <a:p>
            <a:r>
              <a:rPr lang="en-GB" dirty="0"/>
              <a:t>REMINDER: You can book 121s with the study skills team to practice presentations!!! Make use of this!!!! And with Counselling if anxiety is getting in the way of delivering effectively. </a:t>
            </a:r>
          </a:p>
        </p:txBody>
      </p:sp>
      <p:sp>
        <p:nvSpPr>
          <p:cNvPr id="4" name="Slide Number Placeholder 3"/>
          <p:cNvSpPr>
            <a:spLocks noGrp="1"/>
          </p:cNvSpPr>
          <p:nvPr>
            <p:ph type="sldNum" sz="quarter" idx="10"/>
          </p:nvPr>
        </p:nvSpPr>
        <p:spPr/>
        <p:txBody>
          <a:bodyPr/>
          <a:lstStyle/>
          <a:p>
            <a:fld id="{97FE19E7-AF39-4D05-9329-DE82486FA8BA}" type="slidenum">
              <a:rPr lang="en-GB" smtClean="0"/>
              <a:t>16</a:t>
            </a:fld>
            <a:endParaRPr lang="en-GB"/>
          </a:p>
        </p:txBody>
      </p:sp>
    </p:spTree>
    <p:extLst>
      <p:ext uri="{BB962C8B-B14F-4D97-AF65-F5344CB8AC3E}">
        <p14:creationId xmlns:p14="http://schemas.microsoft.com/office/powerpoint/2010/main" val="270874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Check with lecturer now / at start of session – will students be asked questions? Here are some tips for dealing with them if so. </a:t>
            </a:r>
          </a:p>
        </p:txBody>
      </p:sp>
      <p:sp>
        <p:nvSpPr>
          <p:cNvPr id="4" name="Slide Number Placeholder 3"/>
          <p:cNvSpPr>
            <a:spLocks noGrp="1"/>
          </p:cNvSpPr>
          <p:nvPr>
            <p:ph type="sldNum" sz="quarter" idx="10"/>
          </p:nvPr>
        </p:nvSpPr>
        <p:spPr/>
        <p:txBody>
          <a:bodyPr/>
          <a:lstStyle/>
          <a:p>
            <a:fld id="{EF1E52D3-9F41-4BC0-96D6-9BF8F2238AFA}" type="slidenum">
              <a:rPr lang="en-GB" smtClean="0"/>
              <a:t>17</a:t>
            </a:fld>
            <a:endParaRPr lang="en-GB"/>
          </a:p>
        </p:txBody>
      </p:sp>
    </p:spTree>
    <p:extLst>
      <p:ext uri="{BB962C8B-B14F-4D97-AF65-F5344CB8AC3E}">
        <p14:creationId xmlns:p14="http://schemas.microsoft.com/office/powerpoint/2010/main" val="406360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Talk through slide content. </a:t>
            </a:r>
          </a:p>
        </p:txBody>
      </p:sp>
      <p:sp>
        <p:nvSpPr>
          <p:cNvPr id="4" name="Slide Number Placeholder 3"/>
          <p:cNvSpPr>
            <a:spLocks noGrp="1"/>
          </p:cNvSpPr>
          <p:nvPr>
            <p:ph type="sldNum" sz="quarter" idx="5"/>
          </p:nvPr>
        </p:nvSpPr>
        <p:spPr/>
        <p:txBody>
          <a:bodyPr/>
          <a:lstStyle/>
          <a:p>
            <a:fld id="{3C685F16-C452-46DC-96D7-F6700810A793}" type="slidenum">
              <a:rPr lang="en-GB" smtClean="0"/>
              <a:t>19</a:t>
            </a:fld>
            <a:endParaRPr lang="en-GB"/>
          </a:p>
        </p:txBody>
      </p:sp>
    </p:spTree>
    <p:extLst>
      <p:ext uri="{BB962C8B-B14F-4D97-AF65-F5344CB8AC3E}">
        <p14:creationId xmlns:p14="http://schemas.microsoft.com/office/powerpoint/2010/main" val="3337559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noRot="1" noChangeAspect="1"/>
          </p:cNvSpPr>
          <p:nvPr>
            <p:ph type="sldImg"/>
          </p:nvPr>
        </p:nvSpPr>
        <p:spPr>
          <a:xfrm>
            <a:off x="685800" y="1143000"/>
            <a:ext cx="5486400" cy="3086100"/>
          </a:xfrm>
          <a:prstGeom prst="rect">
            <a:avLst/>
          </a:prstGeom>
        </p:spPr>
      </p:sp>
      <p:sp>
        <p:nvSpPr>
          <p:cNvPr id="325" name="PlaceHolder 2"/>
          <p:cNvSpPr>
            <a:spLocks noGrp="1"/>
          </p:cNvSpPr>
          <p:nvPr>
            <p:ph type="body"/>
          </p:nvPr>
        </p:nvSpPr>
        <p:spPr>
          <a:xfrm>
            <a:off x="685800" y="4400640"/>
            <a:ext cx="5485680" cy="3599640"/>
          </a:xfrm>
          <a:prstGeom prst="rect">
            <a:avLst/>
          </a:prstGeom>
        </p:spPr>
        <p:txBody>
          <a:bodyPr lIns="0" tIns="0" rIns="0" bIns="0">
            <a:noAutofit/>
          </a:bodyPr>
          <a:lstStyle/>
          <a:p>
            <a:endParaRPr lang="en-GB" sz="2000" b="0" strike="noStrike" spc="-1">
              <a:latin typeface="Arial"/>
            </a:endParaRPr>
          </a:p>
        </p:txBody>
      </p:sp>
      <p:sp>
        <p:nvSpPr>
          <p:cNvPr id="326" name="CustomShape 3"/>
          <p:cNvSpPr/>
          <p:nvPr/>
        </p:nvSpPr>
        <p:spPr>
          <a:xfrm>
            <a:off x="3884760" y="8685360"/>
            <a:ext cx="2971080" cy="45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54BFF1B6-18F5-4737-804B-CC2653521F12}" type="slidenum">
              <a:rPr lang="en-GB" sz="1200" b="0" strike="noStrike" spc="-1">
                <a:solidFill>
                  <a:srgbClr val="000000"/>
                </a:solidFill>
                <a:latin typeface="Calibri"/>
                <a:ea typeface="+mn-ea"/>
              </a:rPr>
              <a:t>21</a:t>
            </a:fld>
            <a:endParaRPr lang="en-GB"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7" name="Group 1"/>
          <p:cNvGrpSpPr>
            <a:grpSpLocks/>
          </p:cNvGrpSpPr>
          <p:nvPr userDrawn="1"/>
        </p:nvGrpSpPr>
        <p:grpSpPr bwMode="auto">
          <a:xfrm>
            <a:off x="0" y="0"/>
            <a:ext cx="12192000" cy="6867347"/>
            <a:chOff x="0" y="0"/>
            <a:chExt cx="12192000" cy="6858000"/>
          </a:xfrm>
        </p:grpSpPr>
        <p:sp>
          <p:nvSpPr>
            <p:cNvPr id="8" name="Rectangle 7"/>
            <p:cNvSpPr/>
            <p:nvPr/>
          </p:nvSpPr>
          <p:spPr>
            <a:xfrm>
              <a:off x="0" y="0"/>
              <a:ext cx="12192000" cy="6858000"/>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9"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2460" t="21336" r="4902" b="6169"/>
            <a:stretch/>
          </p:blipFill>
          <p:spPr bwMode="auto">
            <a:xfrm>
              <a:off x="149588" y="541069"/>
              <a:ext cx="11166481" cy="617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85398" y="313395"/>
              <a:ext cx="2551988" cy="975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8"/>
            <p:cNvSpPr txBox="1">
              <a:spLocks noChangeArrowheads="1"/>
            </p:cNvSpPr>
            <p:nvPr/>
          </p:nvSpPr>
          <p:spPr bwMode="auto">
            <a:xfrm>
              <a:off x="79899" y="37719"/>
              <a:ext cx="25478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chemeClr val="bg1"/>
                  </a:solidFill>
                </a:rPr>
                <a:t>Learner Development</a:t>
              </a:r>
            </a:p>
            <a:p>
              <a:pPr eaLnBrk="1" hangingPunct="1"/>
              <a:r>
                <a:rPr lang="en-GB" altLang="en-US" b="1">
                  <a:solidFill>
                    <a:schemeClr val="bg1"/>
                  </a:solidFill>
                </a:rPr>
                <a:t>Student Services</a:t>
              </a:r>
            </a:p>
          </p:txBody>
        </p:sp>
      </p:grpSp>
      <p:sp>
        <p:nvSpPr>
          <p:cNvPr id="13" name="Title 12"/>
          <p:cNvSpPr>
            <a:spLocks noGrp="1"/>
          </p:cNvSpPr>
          <p:nvPr>
            <p:ph type="title"/>
          </p:nvPr>
        </p:nvSpPr>
        <p:spPr>
          <a:xfrm>
            <a:off x="3322541" y="2086253"/>
            <a:ext cx="4820574" cy="2216373"/>
          </a:xfrm>
        </p:spPr>
        <p:txBody>
          <a:bodyPr/>
          <a:lstStyle>
            <a:lvl1pPr algn="ctr">
              <a:defRPr sz="6000" b="1">
                <a:latin typeface="+mn-lt"/>
              </a:defRPr>
            </a:lvl1pPr>
          </a:lstStyle>
          <a:p>
            <a:r>
              <a:rPr lang="en-US" dirty="0"/>
              <a:t>Click to edit Master title style</a:t>
            </a:r>
            <a:endParaRPr lang="en-GB" dirty="0"/>
          </a:p>
        </p:txBody>
      </p:sp>
    </p:spTree>
    <p:extLst>
      <p:ext uri="{BB962C8B-B14F-4D97-AF65-F5344CB8AC3E}">
        <p14:creationId xmlns:p14="http://schemas.microsoft.com/office/powerpoint/2010/main" val="134658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7" name="Group 1"/>
          <p:cNvGrpSpPr>
            <a:grpSpLocks/>
          </p:cNvGrpSpPr>
          <p:nvPr userDrawn="1"/>
        </p:nvGrpSpPr>
        <p:grpSpPr bwMode="auto">
          <a:xfrm>
            <a:off x="0" y="0"/>
            <a:ext cx="12192000" cy="6858000"/>
            <a:chOff x="0" y="0"/>
            <a:chExt cx="12192000" cy="6858000"/>
          </a:xfrm>
        </p:grpSpPr>
        <p:sp>
          <p:nvSpPr>
            <p:cNvPr id="8" name="Rectangle 7"/>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9" name="Group 8"/>
            <p:cNvGrpSpPr>
              <a:grpSpLocks/>
            </p:cNvGrpSpPr>
            <p:nvPr/>
          </p:nvGrpSpPr>
          <p:grpSpPr bwMode="auto">
            <a:xfrm>
              <a:off x="0" y="6048375"/>
              <a:ext cx="12192000" cy="809625"/>
              <a:chOff x="2" y="-238"/>
              <a:chExt cx="12192000" cy="809625"/>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rcRect l="781" t="70290" r="813" b="842"/>
              <a:stretch>
                <a:fillRect/>
              </a:stretch>
            </p:blipFill>
            <p:spPr bwMode="auto">
              <a:xfrm>
                <a:off x="2" y="2"/>
                <a:ext cx="4477107" cy="80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4476752" y="-238"/>
                <a:ext cx="7715250" cy="809625"/>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808" y="74076"/>
                <a:ext cx="1729194" cy="6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p:nvSpPr>
            <p:spPr bwMode="auto">
              <a:xfrm>
                <a:off x="206698" y="171426"/>
                <a:ext cx="12684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GB" altLang="en-US" sz="1000" dirty="0"/>
              </a:p>
              <a:p>
                <a:pPr algn="ctr" eaLnBrk="1" hangingPunct="1"/>
                <a:endParaRPr lang="en-GB" altLang="en-US" sz="1000" dirty="0"/>
              </a:p>
            </p:txBody>
          </p:sp>
        </p:grpSp>
      </p:grpSp>
    </p:spTree>
    <p:extLst>
      <p:ext uri="{BB962C8B-B14F-4D97-AF65-F5344CB8AC3E}">
        <p14:creationId xmlns:p14="http://schemas.microsoft.com/office/powerpoint/2010/main" val="230893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223603"/>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10332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1"/>
          <p:cNvGrpSpPr>
            <a:grpSpLocks/>
          </p:cNvGrpSpPr>
          <p:nvPr userDrawn="1"/>
        </p:nvGrpSpPr>
        <p:grpSpPr bwMode="auto">
          <a:xfrm>
            <a:off x="0" y="0"/>
            <a:ext cx="12192000" cy="6858000"/>
            <a:chOff x="0" y="0"/>
            <a:chExt cx="12192000" cy="6858000"/>
          </a:xfrm>
        </p:grpSpPr>
        <p:sp>
          <p:nvSpPr>
            <p:cNvPr id="8" name="Rectangle 7"/>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9" name="Group 8"/>
            <p:cNvGrpSpPr>
              <a:grpSpLocks/>
            </p:cNvGrpSpPr>
            <p:nvPr/>
          </p:nvGrpSpPr>
          <p:grpSpPr bwMode="auto">
            <a:xfrm>
              <a:off x="0" y="6048375"/>
              <a:ext cx="12192000" cy="809625"/>
              <a:chOff x="2" y="-238"/>
              <a:chExt cx="12192000" cy="809625"/>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rcRect l="781" t="70290" r="813" b="842"/>
              <a:stretch>
                <a:fillRect/>
              </a:stretch>
            </p:blipFill>
            <p:spPr bwMode="auto">
              <a:xfrm>
                <a:off x="2" y="2"/>
                <a:ext cx="4477107" cy="80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4476752" y="-238"/>
                <a:ext cx="7715250" cy="809625"/>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808" y="74076"/>
                <a:ext cx="1729194" cy="6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p:nvSpPr>
            <p:spPr bwMode="auto">
              <a:xfrm>
                <a:off x="206698" y="171426"/>
                <a:ext cx="12684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GB" altLang="en-US" sz="1000" dirty="0"/>
              </a:p>
            </p:txBody>
          </p:sp>
        </p:grpSp>
      </p:grpSp>
    </p:spTree>
    <p:extLst>
      <p:ext uri="{BB962C8B-B14F-4D97-AF65-F5344CB8AC3E}">
        <p14:creationId xmlns:p14="http://schemas.microsoft.com/office/powerpoint/2010/main" val="1619238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1"/>
          <p:cNvGrpSpPr>
            <a:grpSpLocks/>
          </p:cNvGrpSpPr>
          <p:nvPr userDrawn="1"/>
        </p:nvGrpSpPr>
        <p:grpSpPr bwMode="auto">
          <a:xfrm>
            <a:off x="0" y="0"/>
            <a:ext cx="12192000" cy="6858000"/>
            <a:chOff x="0" y="0"/>
            <a:chExt cx="12192000" cy="6858000"/>
          </a:xfrm>
        </p:grpSpPr>
        <p:sp>
          <p:nvSpPr>
            <p:cNvPr id="9" name="Rectangle 8"/>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10" name="Group 8"/>
            <p:cNvGrpSpPr>
              <a:grpSpLocks/>
            </p:cNvGrpSpPr>
            <p:nvPr/>
          </p:nvGrpSpPr>
          <p:grpSpPr bwMode="auto">
            <a:xfrm>
              <a:off x="0" y="6048375"/>
              <a:ext cx="12192000" cy="809625"/>
              <a:chOff x="2" y="-238"/>
              <a:chExt cx="12192000" cy="809625"/>
            </a:xfrm>
          </p:grpSpPr>
          <p:pic>
            <p:nvPicPr>
              <p:cNvPr id="11" name="Picture 9"/>
              <p:cNvPicPr>
                <a:picLocks noChangeAspect="1"/>
              </p:cNvPicPr>
              <p:nvPr/>
            </p:nvPicPr>
            <p:blipFill>
              <a:blip r:embed="rId2" cstate="print">
                <a:extLst>
                  <a:ext uri="{28A0092B-C50C-407E-A947-70E740481C1C}">
                    <a14:useLocalDpi xmlns:a14="http://schemas.microsoft.com/office/drawing/2010/main" val="0"/>
                  </a:ext>
                </a:extLst>
              </a:blip>
              <a:srcRect l="781" t="70290" r="813" b="842"/>
              <a:stretch>
                <a:fillRect/>
              </a:stretch>
            </p:blipFill>
            <p:spPr bwMode="auto">
              <a:xfrm>
                <a:off x="2" y="2"/>
                <a:ext cx="4477107" cy="80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a:xfrm>
                <a:off x="4476752" y="-238"/>
                <a:ext cx="7715250" cy="809625"/>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3" name="Picture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808" y="74076"/>
                <a:ext cx="1729194" cy="6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2"/>
              <p:cNvSpPr txBox="1">
                <a:spLocks noChangeArrowheads="1"/>
              </p:cNvSpPr>
              <p:nvPr/>
            </p:nvSpPr>
            <p:spPr bwMode="auto">
              <a:xfrm>
                <a:off x="206698" y="171426"/>
                <a:ext cx="12684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GB" altLang="en-US" sz="1000" dirty="0"/>
              </a:p>
            </p:txBody>
          </p:sp>
        </p:grpSp>
      </p:grpSp>
      <p:sp>
        <p:nvSpPr>
          <p:cNvPr id="2" name="Title 1"/>
          <p:cNvSpPr>
            <a:spLocks noGrp="1"/>
          </p:cNvSpPr>
          <p:nvPr>
            <p:ph type="title"/>
          </p:nvPr>
        </p:nvSpPr>
        <p:spPr>
          <a:xfrm>
            <a:off x="203990" y="156781"/>
            <a:ext cx="11717934" cy="1061883"/>
          </a:xfrm>
        </p:spPr>
        <p:txBody>
          <a:bodyPr/>
          <a:lstStyle/>
          <a:p>
            <a:r>
              <a:rPr lang="en-US"/>
              <a:t>Click to edit Master title style</a:t>
            </a:r>
            <a:endParaRPr lang="en-GB"/>
          </a:p>
        </p:txBody>
      </p:sp>
      <p:sp>
        <p:nvSpPr>
          <p:cNvPr id="3" name="Content Placeholder 2"/>
          <p:cNvSpPr>
            <a:spLocks noGrp="1"/>
          </p:cNvSpPr>
          <p:nvPr>
            <p:ph sz="half" idx="1"/>
          </p:nvPr>
        </p:nvSpPr>
        <p:spPr>
          <a:xfrm>
            <a:off x="203989" y="1442981"/>
            <a:ext cx="567209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46157" y="1439806"/>
            <a:ext cx="577576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79350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1"/>
          <p:cNvGrpSpPr>
            <a:grpSpLocks/>
          </p:cNvGrpSpPr>
          <p:nvPr userDrawn="1"/>
        </p:nvGrpSpPr>
        <p:grpSpPr bwMode="auto">
          <a:xfrm>
            <a:off x="0" y="0"/>
            <a:ext cx="12192000" cy="6858000"/>
            <a:chOff x="0" y="0"/>
            <a:chExt cx="12192000" cy="6858000"/>
          </a:xfrm>
        </p:grpSpPr>
        <p:sp>
          <p:nvSpPr>
            <p:cNvPr id="11" name="Rectangle 10"/>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12" name="Group 8"/>
            <p:cNvGrpSpPr>
              <a:grpSpLocks/>
            </p:cNvGrpSpPr>
            <p:nvPr/>
          </p:nvGrpSpPr>
          <p:grpSpPr bwMode="auto">
            <a:xfrm>
              <a:off x="0" y="6048375"/>
              <a:ext cx="12192000" cy="809625"/>
              <a:chOff x="2" y="-238"/>
              <a:chExt cx="12192000" cy="809625"/>
            </a:xfrm>
          </p:grpSpPr>
          <p:pic>
            <p:nvPicPr>
              <p:cNvPr id="13" name="Picture 9"/>
              <p:cNvPicPr>
                <a:picLocks noChangeAspect="1"/>
              </p:cNvPicPr>
              <p:nvPr/>
            </p:nvPicPr>
            <p:blipFill>
              <a:blip r:embed="rId2" cstate="print">
                <a:extLst>
                  <a:ext uri="{28A0092B-C50C-407E-A947-70E740481C1C}">
                    <a14:useLocalDpi xmlns:a14="http://schemas.microsoft.com/office/drawing/2010/main" val="0"/>
                  </a:ext>
                </a:extLst>
              </a:blip>
              <a:srcRect l="781" t="70290" r="813" b="842"/>
              <a:stretch>
                <a:fillRect/>
              </a:stretch>
            </p:blipFill>
            <p:spPr bwMode="auto">
              <a:xfrm>
                <a:off x="2" y="2"/>
                <a:ext cx="4477107" cy="80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4476752" y="-238"/>
                <a:ext cx="7715250" cy="809625"/>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5" name="Picture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808" y="74076"/>
                <a:ext cx="1729194" cy="6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2"/>
              <p:cNvSpPr txBox="1">
                <a:spLocks noChangeArrowheads="1"/>
              </p:cNvSpPr>
              <p:nvPr/>
            </p:nvSpPr>
            <p:spPr bwMode="auto">
              <a:xfrm>
                <a:off x="206698" y="171426"/>
                <a:ext cx="12684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GB" altLang="en-US" sz="1000" dirty="0"/>
              </a:p>
            </p:txBody>
          </p:sp>
        </p:grpSp>
      </p:grpSp>
      <p:sp>
        <p:nvSpPr>
          <p:cNvPr id="2" name="Title 1"/>
          <p:cNvSpPr>
            <a:spLocks noGrp="1"/>
          </p:cNvSpPr>
          <p:nvPr>
            <p:ph type="title"/>
          </p:nvPr>
        </p:nvSpPr>
        <p:spPr>
          <a:xfrm>
            <a:off x="206696" y="145206"/>
            <a:ext cx="11779304"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206696" y="1461244"/>
            <a:ext cx="576772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06696" y="2285156"/>
            <a:ext cx="5767729"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49050" y="1461244"/>
            <a:ext cx="5836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49050" y="2285156"/>
            <a:ext cx="5836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58789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6" name="Group 1"/>
          <p:cNvGrpSpPr>
            <a:grpSpLocks/>
          </p:cNvGrpSpPr>
          <p:nvPr userDrawn="1"/>
        </p:nvGrpSpPr>
        <p:grpSpPr bwMode="auto">
          <a:xfrm>
            <a:off x="0" y="0"/>
            <a:ext cx="12192000" cy="6858000"/>
            <a:chOff x="0" y="0"/>
            <a:chExt cx="12192000" cy="6858000"/>
          </a:xfrm>
        </p:grpSpPr>
        <p:sp>
          <p:nvSpPr>
            <p:cNvPr id="7" name="Rectangle 6"/>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8" name="Group 8"/>
            <p:cNvGrpSpPr>
              <a:grpSpLocks/>
            </p:cNvGrpSpPr>
            <p:nvPr/>
          </p:nvGrpSpPr>
          <p:grpSpPr bwMode="auto">
            <a:xfrm>
              <a:off x="0" y="6048375"/>
              <a:ext cx="12192000" cy="809625"/>
              <a:chOff x="2" y="-238"/>
              <a:chExt cx="12192000" cy="809625"/>
            </a:xfrm>
          </p:grpSpPr>
          <p:pic>
            <p:nvPicPr>
              <p:cNvPr id="9" name="Picture 9"/>
              <p:cNvPicPr>
                <a:picLocks noChangeAspect="1"/>
              </p:cNvPicPr>
              <p:nvPr/>
            </p:nvPicPr>
            <p:blipFill>
              <a:blip r:embed="rId2" cstate="print">
                <a:extLst>
                  <a:ext uri="{28A0092B-C50C-407E-A947-70E740481C1C}">
                    <a14:useLocalDpi xmlns:a14="http://schemas.microsoft.com/office/drawing/2010/main" val="0"/>
                  </a:ext>
                </a:extLst>
              </a:blip>
              <a:srcRect l="781" t="70290" r="813" b="842"/>
              <a:stretch>
                <a:fillRect/>
              </a:stretch>
            </p:blipFill>
            <p:spPr bwMode="auto">
              <a:xfrm>
                <a:off x="2" y="2"/>
                <a:ext cx="4477107" cy="80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4476752" y="-238"/>
                <a:ext cx="7715250" cy="809625"/>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1" name="Picture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808" y="74076"/>
                <a:ext cx="1729194" cy="6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2"/>
              <p:cNvSpPr txBox="1">
                <a:spLocks noChangeArrowheads="1"/>
              </p:cNvSpPr>
              <p:nvPr/>
            </p:nvSpPr>
            <p:spPr bwMode="auto">
              <a:xfrm>
                <a:off x="206698" y="171426"/>
                <a:ext cx="12684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GB" altLang="en-US" sz="1000" dirty="0"/>
              </a:p>
            </p:txBody>
          </p:sp>
        </p:grpSp>
      </p:gr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69128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1"/>
          <p:cNvGrpSpPr>
            <a:grpSpLocks/>
          </p:cNvGrpSpPr>
          <p:nvPr userDrawn="1"/>
        </p:nvGrpSpPr>
        <p:grpSpPr bwMode="auto">
          <a:xfrm>
            <a:off x="0" y="0"/>
            <a:ext cx="12192000" cy="6858000"/>
            <a:chOff x="0" y="0"/>
            <a:chExt cx="12192000" cy="6858000"/>
          </a:xfrm>
        </p:grpSpPr>
        <p:sp>
          <p:nvSpPr>
            <p:cNvPr id="6" name="Rectangle 5"/>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7" name="Group 8"/>
            <p:cNvGrpSpPr>
              <a:grpSpLocks/>
            </p:cNvGrpSpPr>
            <p:nvPr/>
          </p:nvGrpSpPr>
          <p:grpSpPr bwMode="auto">
            <a:xfrm>
              <a:off x="0" y="6048375"/>
              <a:ext cx="12192000" cy="809625"/>
              <a:chOff x="2" y="-238"/>
              <a:chExt cx="12192000" cy="809625"/>
            </a:xfrm>
          </p:grpSpPr>
          <p:pic>
            <p:nvPicPr>
              <p:cNvPr id="8" name="Picture 9"/>
              <p:cNvPicPr>
                <a:picLocks noChangeAspect="1"/>
              </p:cNvPicPr>
              <p:nvPr/>
            </p:nvPicPr>
            <p:blipFill>
              <a:blip r:embed="rId2" cstate="print">
                <a:extLst>
                  <a:ext uri="{28A0092B-C50C-407E-A947-70E740481C1C}">
                    <a14:useLocalDpi xmlns:a14="http://schemas.microsoft.com/office/drawing/2010/main" val="0"/>
                  </a:ext>
                </a:extLst>
              </a:blip>
              <a:srcRect l="781" t="70290" r="813" b="842"/>
              <a:stretch>
                <a:fillRect/>
              </a:stretch>
            </p:blipFill>
            <p:spPr bwMode="auto">
              <a:xfrm>
                <a:off x="2" y="2"/>
                <a:ext cx="4477107" cy="80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4476752" y="-238"/>
                <a:ext cx="7715250" cy="809625"/>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0" name="Picture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808" y="74076"/>
                <a:ext cx="1729194" cy="6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2"/>
              <p:cNvSpPr txBox="1">
                <a:spLocks noChangeArrowheads="1"/>
              </p:cNvSpPr>
              <p:nvPr/>
            </p:nvSpPr>
            <p:spPr bwMode="auto">
              <a:xfrm>
                <a:off x="206698" y="171426"/>
                <a:ext cx="12684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GB" altLang="en-US" sz="1000" dirty="0"/>
              </a:p>
            </p:txBody>
          </p:sp>
        </p:grpSp>
      </p:grpSp>
    </p:spTree>
    <p:extLst>
      <p:ext uri="{BB962C8B-B14F-4D97-AF65-F5344CB8AC3E}">
        <p14:creationId xmlns:p14="http://schemas.microsoft.com/office/powerpoint/2010/main" val="2245727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grpSp>
        <p:nvGrpSpPr>
          <p:cNvPr id="12" name="Group 2"/>
          <p:cNvGrpSpPr>
            <a:grpSpLocks/>
          </p:cNvGrpSpPr>
          <p:nvPr userDrawn="1"/>
        </p:nvGrpSpPr>
        <p:grpSpPr bwMode="auto">
          <a:xfrm>
            <a:off x="0" y="0"/>
            <a:ext cx="12192000" cy="6858000"/>
            <a:chOff x="0" y="0"/>
            <a:chExt cx="12192000" cy="6858000"/>
          </a:xfrm>
        </p:grpSpPr>
        <p:sp>
          <p:nvSpPr>
            <p:cNvPr id="13" name="Rectangle 12"/>
            <p:cNvSpPr/>
            <p:nvPr/>
          </p:nvSpPr>
          <p:spPr>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grpSp>
          <p:nvGrpSpPr>
            <p:cNvPr id="14" name="Group 1"/>
            <p:cNvGrpSpPr>
              <a:grpSpLocks/>
            </p:cNvGrpSpPr>
            <p:nvPr/>
          </p:nvGrpSpPr>
          <p:grpSpPr bwMode="auto">
            <a:xfrm>
              <a:off x="0" y="0"/>
              <a:ext cx="969333" cy="6858000"/>
              <a:chOff x="0" y="0"/>
              <a:chExt cx="969333" cy="6858000"/>
            </a:xfrm>
          </p:grpSpPr>
          <p:pic>
            <p:nvPicPr>
              <p:cNvPr id="15" name="Picture 4"/>
              <p:cNvPicPr>
                <a:picLocks noChangeAspect="1"/>
              </p:cNvPicPr>
              <p:nvPr/>
            </p:nvPicPr>
            <p:blipFill>
              <a:blip r:embed="rId2" cstate="print">
                <a:extLst>
                  <a:ext uri="{28A0092B-C50C-407E-A947-70E740481C1C}">
                    <a14:useLocalDpi xmlns:a14="http://schemas.microsoft.com/office/drawing/2010/main" val="0"/>
                  </a:ext>
                </a:extLst>
              </a:blip>
              <a:srcRect l="508" t="4401" r="68735" b="713"/>
              <a:stretch>
                <a:fillRect/>
              </a:stretch>
            </p:blipFill>
            <p:spPr bwMode="auto">
              <a:xfrm>
                <a:off x="0" y="4743355"/>
                <a:ext cx="969332" cy="2114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p:nvPr/>
            </p:nvSpPr>
            <p:spPr>
              <a:xfrm>
                <a:off x="0" y="0"/>
                <a:ext cx="969963" cy="4743450"/>
              </a:xfrm>
              <a:prstGeom prst="rect">
                <a:avLst/>
              </a:prstGeom>
              <a:solidFill>
                <a:srgbClr val="8F9A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17" name="Picture 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976" y="123822"/>
                <a:ext cx="823380" cy="314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1341423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6" name="Rectangle 5"/>
          <p:cNvSpPr/>
          <p:nvPr userDrawn="1"/>
        </p:nvSpPr>
        <p:spPr bwMode="auto">
          <a:xfrm>
            <a:off x="0" y="0"/>
            <a:ext cx="12192000" cy="6858000"/>
          </a:xfrm>
          <a:prstGeom prst="rect">
            <a:avLst/>
          </a:prstGeom>
          <a:solidFill>
            <a:srgbClr val="8F9AA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pic>
        <p:nvPicPr>
          <p:cNvPr id="5" name="Picture 6" descr="MMU New logo white.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25619" y="1209188"/>
            <a:ext cx="3878570" cy="4465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8986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49203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6183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25946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FB12D58-0BE6-4AF9-B6DE-3426A86FC93A}" type="datetimeFigureOut">
              <a:rPr lang="en-GB" smtClean="0"/>
              <a:t>07/11/2025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2773344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FB12D58-0BE6-4AF9-B6DE-3426A86FC93A}" type="datetimeFigureOut">
              <a:rPr lang="en-GB" smtClean="0"/>
              <a:t>07/11/2025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226227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B12D58-0BE6-4AF9-B6DE-3426A86FC93A}" type="datetimeFigureOut">
              <a:rPr lang="en-GB" smtClean="0"/>
              <a:t>07/11/2025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371927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FB12D58-0BE6-4AF9-B6DE-3426A86FC93A}" type="datetimeFigureOut">
              <a:rPr lang="en-GB" smtClean="0"/>
              <a:t>07/11/2025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2705584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FB12D58-0BE6-4AF9-B6DE-3426A86FC93A}" type="datetimeFigureOut">
              <a:rPr lang="en-GB" smtClean="0"/>
              <a:t>07/11/2025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17888025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FB12D58-0BE6-4AF9-B6DE-3426A86FC93A}" type="datetimeFigureOut">
              <a:rPr lang="en-GB" smtClean="0"/>
              <a:t>07/11/2025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1275854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B12D58-0BE6-4AF9-B6DE-3426A86FC93A}" type="datetimeFigureOut">
              <a:rPr lang="en-GB" smtClean="0"/>
              <a:t>07/11/2025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7142320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B12D58-0BE6-4AF9-B6DE-3426A86FC93A}" type="datetimeFigureOut">
              <a:rPr lang="en-GB" smtClean="0"/>
              <a:t>07/11/2025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4346447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B12D58-0BE6-4AF9-B6DE-3426A86FC93A}" type="datetimeFigureOut">
              <a:rPr lang="en-GB" smtClean="0"/>
              <a:t>07/11/2025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16142389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FB12D58-0BE6-4AF9-B6DE-3426A86FC93A}" type="datetimeFigureOut">
              <a:rPr lang="en-GB" smtClean="0"/>
              <a:t>07/11/2025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33933799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FB12D58-0BE6-4AF9-B6DE-3426A86FC93A}" type="datetimeFigureOut">
              <a:rPr lang="en-GB" smtClean="0"/>
              <a:t>07/11/2025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B11BDFF-2E7D-4DF6-9065-3933513AB64A}" type="slidenum">
              <a:rPr lang="en-GB" smtClean="0"/>
              <a:t>‹#›</a:t>
            </a:fld>
            <a:endParaRPr lang="en-GB"/>
          </a:p>
        </p:txBody>
      </p:sp>
    </p:spTree>
    <p:extLst>
      <p:ext uri="{BB962C8B-B14F-4D97-AF65-F5344CB8AC3E}">
        <p14:creationId xmlns:p14="http://schemas.microsoft.com/office/powerpoint/2010/main" val="2041340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03990" y="156781"/>
            <a:ext cx="11717934"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endParaRPr lang="en-GB" altLang="en-US" dirty="0"/>
          </a:p>
        </p:txBody>
      </p:sp>
      <p:sp>
        <p:nvSpPr>
          <p:cNvPr id="1027" name="Text Placeholder 2"/>
          <p:cNvSpPr>
            <a:spLocks noGrp="1"/>
          </p:cNvSpPr>
          <p:nvPr>
            <p:ph type="body" idx="1"/>
          </p:nvPr>
        </p:nvSpPr>
        <p:spPr bwMode="auto">
          <a:xfrm>
            <a:off x="203990" y="1663775"/>
            <a:ext cx="11717934" cy="430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GB"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rtl="0" eaLnBrk="1" fontAlgn="base" hangingPunct="1">
        <a:lnSpc>
          <a:spcPct val="90000"/>
        </a:lnSpc>
        <a:spcBef>
          <a:spcPct val="0"/>
        </a:spcBef>
        <a:spcAft>
          <a:spcPct val="0"/>
        </a:spcAft>
        <a:defRPr sz="4400" b="1" kern="1200">
          <a:solidFill>
            <a:schemeClr val="tx1"/>
          </a:solidFill>
          <a:latin typeface="+mn-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B12D58-0BE6-4AF9-B6DE-3426A86FC93A}" type="datetimeFigureOut">
              <a:rPr lang="en-GB" smtClean="0"/>
              <a:t>07/11/2025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11BDFF-2E7D-4DF6-9065-3933513AB64A}" type="slidenum">
              <a:rPr lang="en-GB" smtClean="0"/>
              <a:t>‹#›</a:t>
            </a:fld>
            <a:endParaRPr lang="en-GB"/>
          </a:p>
        </p:txBody>
      </p:sp>
    </p:spTree>
    <p:extLst>
      <p:ext uri="{BB962C8B-B14F-4D97-AF65-F5344CB8AC3E}">
        <p14:creationId xmlns:p14="http://schemas.microsoft.com/office/powerpoint/2010/main" val="72700023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ItO5kr4Tr4A?feature=oembed" TargetMode="Externa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video" Target="https://www.youtube.com/embed/rC6Pa8cuBfI?start=392&amp;feature=oembe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7.xml"/><Relationship Id="rId1" Type="http://schemas.openxmlformats.org/officeDocument/2006/relationships/video" Target="https://www.youtube.com/embed/hHG8io5qIU8?feature=oembe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hyperlink" Target="https://openclipart.org/detail/19393/clock" TargetMode="Externa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video" Target="https://www.youtube.com/embed/FuIgDcUl4lc?feature=oembed" TargetMode="Externa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overleaf.com/learn/latex/Beam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mmu.ac.uk/student-life/course/study-skills/"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L4 Maths</a:t>
            </a:r>
            <a:br>
              <a:rPr lang="en-GB" sz="4000" dirty="0"/>
            </a:br>
            <a:r>
              <a:rPr lang="en-GB" sz="4000" dirty="0"/>
              <a:t>Group Presentations</a:t>
            </a:r>
          </a:p>
        </p:txBody>
      </p:sp>
      <p:sp>
        <p:nvSpPr>
          <p:cNvPr id="3" name="Rectangle 2">
            <a:extLst>
              <a:ext uri="{FF2B5EF4-FFF2-40B4-BE49-F238E27FC236}">
                <a16:creationId xmlns:a16="http://schemas.microsoft.com/office/drawing/2014/main" id="{2E1C5753-ED0B-71FC-569F-666BE57A9A17}"/>
              </a:ext>
            </a:extLst>
          </p:cNvPr>
          <p:cNvSpPr/>
          <p:nvPr/>
        </p:nvSpPr>
        <p:spPr>
          <a:xfrm>
            <a:off x="148856" y="0"/>
            <a:ext cx="2211572" cy="797442"/>
          </a:xfrm>
          <a:prstGeom prst="rect">
            <a:avLst/>
          </a:prstGeom>
          <a:solidFill>
            <a:srgbClr val="8E9A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78953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007903A-893A-45E2-B7A8-C86BEB2F4123}"/>
              </a:ext>
            </a:extLst>
          </p:cNvPr>
          <p:cNvGrpSpPr/>
          <p:nvPr/>
        </p:nvGrpSpPr>
        <p:grpSpPr>
          <a:xfrm>
            <a:off x="1171367" y="438214"/>
            <a:ext cx="9561021" cy="5256420"/>
            <a:chOff x="1171367" y="184102"/>
            <a:chExt cx="9561021" cy="5782062"/>
          </a:xfrm>
        </p:grpSpPr>
        <p:sp>
          <p:nvSpPr>
            <p:cNvPr id="7" name="Rounded Rectangle 4">
              <a:extLst>
                <a:ext uri="{FF2B5EF4-FFF2-40B4-BE49-F238E27FC236}">
                  <a16:creationId xmlns:a16="http://schemas.microsoft.com/office/drawing/2014/main" id="{F0F0E467-EE15-4976-A9B9-AA3E3BF5A980}"/>
                </a:ext>
              </a:extLst>
            </p:cNvPr>
            <p:cNvSpPr/>
            <p:nvPr/>
          </p:nvSpPr>
          <p:spPr>
            <a:xfrm>
              <a:off x="1171367" y="184102"/>
              <a:ext cx="9561021" cy="5509210"/>
            </a:xfrm>
            <a:prstGeom prst="roundRect">
              <a:avLst>
                <a:gd name="adj" fmla="val 512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EA1A8C03-3D93-45F8-8D27-6A90A25715F7}"/>
                </a:ext>
              </a:extLst>
            </p:cNvPr>
            <p:cNvSpPr/>
            <p:nvPr/>
          </p:nvSpPr>
          <p:spPr>
            <a:xfrm flipH="1" flipV="1">
              <a:off x="6068028" y="287596"/>
              <a:ext cx="103536" cy="138172"/>
            </a:xfrm>
            <a:prstGeom prst="ellipse">
              <a:avLst/>
            </a:prstGeom>
            <a:solidFill>
              <a:srgbClr val="9AA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AF1E81A-4A6B-44D0-9226-063C2F1D030B}"/>
                </a:ext>
              </a:extLst>
            </p:cNvPr>
            <p:cNvSpPr/>
            <p:nvPr/>
          </p:nvSpPr>
          <p:spPr>
            <a:xfrm>
              <a:off x="1498404" y="472908"/>
              <a:ext cx="8925588" cy="49338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rapezoid 10">
              <a:extLst>
                <a:ext uri="{FF2B5EF4-FFF2-40B4-BE49-F238E27FC236}">
                  <a16:creationId xmlns:a16="http://schemas.microsoft.com/office/drawing/2014/main" id="{37299924-1CC0-42B2-83D3-63B9FB71C857}"/>
                </a:ext>
              </a:extLst>
            </p:cNvPr>
            <p:cNvSpPr/>
            <p:nvPr/>
          </p:nvSpPr>
          <p:spPr>
            <a:xfrm>
              <a:off x="3666945" y="5565294"/>
              <a:ext cx="4848718" cy="400870"/>
            </a:xfrm>
            <a:prstGeom prst="trapezoid">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C772CE6D-F805-49E8-BE22-621AA4F9D886}"/>
              </a:ext>
            </a:extLst>
          </p:cNvPr>
          <p:cNvSpPr txBox="1"/>
          <p:nvPr/>
        </p:nvSpPr>
        <p:spPr>
          <a:xfrm>
            <a:off x="2301109" y="714929"/>
            <a:ext cx="7301536" cy="830997"/>
          </a:xfrm>
          <a:prstGeom prst="rect">
            <a:avLst/>
          </a:prstGeom>
          <a:noFill/>
        </p:spPr>
        <p:txBody>
          <a:bodyPr wrap="square" rtlCol="0">
            <a:spAutoFit/>
          </a:bodyPr>
          <a:lstStyle/>
          <a:p>
            <a:pPr algn="ctr"/>
            <a:r>
              <a:rPr lang="en-GB" sz="4800" b="1" dirty="0"/>
              <a:t>Learning Objectives</a:t>
            </a:r>
          </a:p>
        </p:txBody>
      </p:sp>
      <p:sp>
        <p:nvSpPr>
          <p:cNvPr id="3" name="TextBox 2">
            <a:extLst>
              <a:ext uri="{FF2B5EF4-FFF2-40B4-BE49-F238E27FC236}">
                <a16:creationId xmlns:a16="http://schemas.microsoft.com/office/drawing/2014/main" id="{70DB8C1E-DDE2-445F-B3E9-6E6ECECDD24E}"/>
              </a:ext>
            </a:extLst>
          </p:cNvPr>
          <p:cNvSpPr txBox="1"/>
          <p:nvPr/>
        </p:nvSpPr>
        <p:spPr>
          <a:xfrm>
            <a:off x="1584960" y="1488906"/>
            <a:ext cx="8924544" cy="3250890"/>
          </a:xfrm>
          <a:prstGeom prst="rect">
            <a:avLst/>
          </a:prstGeom>
          <a:noFill/>
        </p:spPr>
        <p:txBody>
          <a:bodyPr wrap="square" rtlCol="0">
            <a:spAutoFit/>
          </a:bodyPr>
          <a:lstStyle/>
          <a:p>
            <a:pPr>
              <a:lnSpc>
                <a:spcPct val="114000"/>
              </a:lnSpc>
            </a:pPr>
            <a:r>
              <a:rPr lang="en-GB" sz="2400" dirty="0"/>
              <a:t>By the end of this session you will have:</a:t>
            </a:r>
          </a:p>
          <a:p>
            <a:pPr>
              <a:lnSpc>
                <a:spcPct val="114000"/>
              </a:lnSpc>
            </a:pPr>
            <a:endParaRPr lang="en-GB" sz="2400" dirty="0"/>
          </a:p>
          <a:p>
            <a:pPr marL="457200" indent="-457200">
              <a:lnSpc>
                <a:spcPct val="114000"/>
              </a:lnSpc>
              <a:buAutoNum type="arabicPeriod"/>
            </a:pPr>
            <a:r>
              <a:rPr lang="en-GB" sz="2400" dirty="0"/>
              <a:t>Discussed key elements of an effective presentation. </a:t>
            </a:r>
          </a:p>
          <a:p>
            <a:pPr marL="457200" indent="-457200">
              <a:lnSpc>
                <a:spcPct val="114000"/>
              </a:lnSpc>
              <a:buAutoNum type="arabicPeriod"/>
            </a:pPr>
            <a:r>
              <a:rPr lang="en-GB" sz="2400" dirty="0"/>
              <a:t>Considered the benefits and challenges of presenting as a group. </a:t>
            </a:r>
          </a:p>
          <a:p>
            <a:pPr marL="457200" indent="-457200">
              <a:lnSpc>
                <a:spcPct val="114000"/>
              </a:lnSpc>
              <a:buAutoNum type="arabicPeriod"/>
            </a:pPr>
            <a:r>
              <a:rPr lang="en-GB" sz="2400" dirty="0"/>
              <a:t>Been signposted to support resources. </a:t>
            </a:r>
          </a:p>
          <a:p>
            <a:pPr marL="457200" indent="-457200">
              <a:lnSpc>
                <a:spcPct val="114000"/>
              </a:lnSpc>
              <a:buAutoNum type="arabicPeriod"/>
            </a:pPr>
            <a:endParaRPr lang="en-GB" sz="1950" dirty="0"/>
          </a:p>
          <a:p>
            <a:pPr marL="457200" indent="-457200">
              <a:lnSpc>
                <a:spcPct val="114000"/>
              </a:lnSpc>
              <a:buAutoNum type="arabicPeriod"/>
            </a:pPr>
            <a:endParaRPr lang="en-GB" sz="1950" dirty="0"/>
          </a:p>
          <a:p>
            <a:pPr marL="742950" indent="-742950">
              <a:buAutoNum type="arabicPeriod"/>
            </a:pPr>
            <a:endParaRPr lang="en-GB" sz="2400" dirty="0"/>
          </a:p>
        </p:txBody>
      </p:sp>
      <p:sp>
        <p:nvSpPr>
          <p:cNvPr id="5" name="Title 4">
            <a:extLst>
              <a:ext uri="{FF2B5EF4-FFF2-40B4-BE49-F238E27FC236}">
                <a16:creationId xmlns:a16="http://schemas.microsoft.com/office/drawing/2014/main" id="{43B3A52B-1071-1728-1391-17A5CA15B6BC}"/>
              </a:ext>
            </a:extLst>
          </p:cNvPr>
          <p:cNvSpPr>
            <a:spLocks noGrp="1"/>
          </p:cNvSpPr>
          <p:nvPr>
            <p:ph type="title"/>
          </p:nvPr>
        </p:nvSpPr>
        <p:spPr/>
        <p:txBody>
          <a:bodyPr/>
          <a:lstStyle/>
          <a:p>
            <a:endParaRPr lang="en-GB" dirty="0"/>
          </a:p>
        </p:txBody>
      </p:sp>
      <p:sp>
        <p:nvSpPr>
          <p:cNvPr id="6" name="Content Placeholder 5">
            <a:extLst>
              <a:ext uri="{FF2B5EF4-FFF2-40B4-BE49-F238E27FC236}">
                <a16:creationId xmlns:a16="http://schemas.microsoft.com/office/drawing/2014/main" id="{9BE2ADDB-2166-5569-2BB2-AC2234A37063}"/>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301631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85670-0EED-E459-52F8-B0215DB714A6}"/>
              </a:ext>
            </a:extLst>
          </p:cNvPr>
          <p:cNvSpPr>
            <a:spLocks noGrp="1"/>
          </p:cNvSpPr>
          <p:nvPr>
            <p:ph type="title"/>
          </p:nvPr>
        </p:nvSpPr>
        <p:spPr/>
        <p:txBody>
          <a:bodyPr/>
          <a:lstStyle/>
          <a:p>
            <a:r>
              <a:rPr lang="en-GB" dirty="0"/>
              <a:t>Reminder: your assignment</a:t>
            </a:r>
          </a:p>
        </p:txBody>
      </p:sp>
      <p:sp>
        <p:nvSpPr>
          <p:cNvPr id="3" name="Content Placeholder 2">
            <a:extLst>
              <a:ext uri="{FF2B5EF4-FFF2-40B4-BE49-F238E27FC236}">
                <a16:creationId xmlns:a16="http://schemas.microsoft.com/office/drawing/2014/main" id="{0E10275C-55A6-0AD5-7129-5960308CB319}"/>
              </a:ext>
            </a:extLst>
          </p:cNvPr>
          <p:cNvSpPr>
            <a:spLocks noGrp="1"/>
          </p:cNvSpPr>
          <p:nvPr>
            <p:ph idx="1"/>
          </p:nvPr>
        </p:nvSpPr>
        <p:spPr/>
        <p:txBody>
          <a:bodyPr/>
          <a:lstStyle/>
          <a:p>
            <a:pPr>
              <a:lnSpc>
                <a:spcPct val="150000"/>
              </a:lnSpc>
            </a:pPr>
            <a:r>
              <a:rPr lang="en-GB" dirty="0"/>
              <a:t>Group report on a selected mathematical topic. </a:t>
            </a:r>
          </a:p>
          <a:p>
            <a:pPr>
              <a:lnSpc>
                <a:spcPct val="150000"/>
              </a:lnSpc>
            </a:pPr>
            <a:r>
              <a:rPr lang="en-GB" dirty="0"/>
              <a:t>You will also need to prepare a 5-10 minute group presentation on your report topic. </a:t>
            </a:r>
          </a:p>
          <a:p>
            <a:pPr>
              <a:lnSpc>
                <a:spcPct val="150000"/>
              </a:lnSpc>
            </a:pPr>
            <a:r>
              <a:rPr lang="en-GB" dirty="0"/>
              <a:t>This will be delivered at the end of Semester 1 in the labs. </a:t>
            </a:r>
          </a:p>
        </p:txBody>
      </p:sp>
    </p:spTree>
    <p:extLst>
      <p:ext uri="{BB962C8B-B14F-4D97-AF65-F5344CB8AC3E}">
        <p14:creationId xmlns:p14="http://schemas.microsoft.com/office/powerpoint/2010/main" val="2765143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4887-16E6-E77E-F4EC-143DB6F0661E}"/>
              </a:ext>
            </a:extLst>
          </p:cNvPr>
          <p:cNvSpPr>
            <a:spLocks noGrp="1"/>
          </p:cNvSpPr>
          <p:nvPr>
            <p:ph type="title"/>
          </p:nvPr>
        </p:nvSpPr>
        <p:spPr/>
        <p:txBody>
          <a:bodyPr/>
          <a:lstStyle/>
          <a:p>
            <a:r>
              <a:rPr lang="en-GB" dirty="0"/>
              <a:t>Activity: what do you think of this presentation?</a:t>
            </a:r>
          </a:p>
        </p:txBody>
      </p:sp>
      <p:pic>
        <p:nvPicPr>
          <p:cNvPr id="4" name="Online Media 3" title="Boris Johnson &quot;Peppa Pig&quot; speech: Prime Minister fumbles at CBI conference.">
            <a:hlinkClick r:id="" action="ppaction://media"/>
            <a:extLst>
              <a:ext uri="{FF2B5EF4-FFF2-40B4-BE49-F238E27FC236}">
                <a16:creationId xmlns:a16="http://schemas.microsoft.com/office/drawing/2014/main" id="{2F3C0AE4-791D-4114-DA65-95567CC114DA}"/>
              </a:ext>
            </a:extLst>
          </p:cNvPr>
          <p:cNvPicPr>
            <a:picLocks noGrp="1" noRot="1" noChangeAspect="1"/>
          </p:cNvPicPr>
          <p:nvPr>
            <p:ph idx="1"/>
            <a:videoFile r:link="rId1"/>
          </p:nvPr>
        </p:nvPicPr>
        <p:blipFill>
          <a:blip r:embed="rId4"/>
          <a:stretch>
            <a:fillRect/>
          </a:stretch>
        </p:blipFill>
        <p:spPr>
          <a:xfrm>
            <a:off x="1848538" y="1164657"/>
            <a:ext cx="8495382" cy="4799581"/>
          </a:xfrm>
          <a:prstGeom prst="rect">
            <a:avLst/>
          </a:prstGeom>
        </p:spPr>
      </p:pic>
    </p:spTree>
    <p:extLst>
      <p:ext uri="{BB962C8B-B14F-4D97-AF65-F5344CB8AC3E}">
        <p14:creationId xmlns:p14="http://schemas.microsoft.com/office/powerpoint/2010/main" val="842227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The story of time, with Professor Jim Al-Khalili | Humanists UK Convention 2024">
            <a:hlinkClick r:id="" action="ppaction://media"/>
            <a:extLst>
              <a:ext uri="{FF2B5EF4-FFF2-40B4-BE49-F238E27FC236}">
                <a16:creationId xmlns:a16="http://schemas.microsoft.com/office/drawing/2014/main" id="{FDEB89B6-2EAC-A3B1-88D7-F47CD1DBB31B}"/>
              </a:ext>
            </a:extLst>
          </p:cNvPr>
          <p:cNvPicPr>
            <a:picLocks noRot="1" noChangeAspect="1"/>
          </p:cNvPicPr>
          <p:nvPr>
            <a:videoFile r:link="rId1"/>
          </p:nvPr>
        </p:nvPicPr>
        <p:blipFill>
          <a:blip r:embed="rId3"/>
          <a:stretch>
            <a:fillRect/>
          </a:stretch>
        </p:blipFill>
        <p:spPr>
          <a:xfrm>
            <a:off x="1592357" y="414528"/>
            <a:ext cx="9007285" cy="5089128"/>
          </a:xfrm>
          <a:prstGeom prst="rect">
            <a:avLst/>
          </a:prstGeom>
        </p:spPr>
      </p:pic>
    </p:spTree>
    <p:extLst>
      <p:ext uri="{BB962C8B-B14F-4D97-AF65-F5344CB8AC3E}">
        <p14:creationId xmlns:p14="http://schemas.microsoft.com/office/powerpoint/2010/main" val="185941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Weber's Law - Numberphile">
            <a:hlinkClick r:id="" action="ppaction://media"/>
            <a:extLst>
              <a:ext uri="{FF2B5EF4-FFF2-40B4-BE49-F238E27FC236}">
                <a16:creationId xmlns:a16="http://schemas.microsoft.com/office/drawing/2014/main" id="{3622C13D-6452-2ABC-DF8F-7E27B81A38A4}"/>
              </a:ext>
            </a:extLst>
          </p:cNvPr>
          <p:cNvPicPr>
            <a:picLocks noRot="1" noChangeAspect="1"/>
          </p:cNvPicPr>
          <p:nvPr>
            <a:videoFile r:link="rId1"/>
          </p:nvPr>
        </p:nvPicPr>
        <p:blipFill>
          <a:blip r:embed="rId3"/>
          <a:stretch>
            <a:fillRect/>
          </a:stretch>
        </p:blipFill>
        <p:spPr>
          <a:xfrm>
            <a:off x="1878869" y="707136"/>
            <a:ext cx="8434261" cy="4765368"/>
          </a:xfrm>
          <a:prstGeom prst="rect">
            <a:avLst/>
          </a:prstGeom>
        </p:spPr>
      </p:pic>
    </p:spTree>
    <p:extLst>
      <p:ext uri="{BB962C8B-B14F-4D97-AF65-F5344CB8AC3E}">
        <p14:creationId xmlns:p14="http://schemas.microsoft.com/office/powerpoint/2010/main" val="65109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605E9-B569-2736-9C56-38262EB3E071}"/>
              </a:ext>
            </a:extLst>
          </p:cNvPr>
          <p:cNvSpPr>
            <a:spLocks noGrp="1"/>
          </p:cNvSpPr>
          <p:nvPr>
            <p:ph type="title"/>
          </p:nvPr>
        </p:nvSpPr>
        <p:spPr/>
        <p:txBody>
          <a:bodyPr/>
          <a:lstStyle/>
          <a:p>
            <a:r>
              <a:rPr lang="en-GB" dirty="0"/>
              <a:t>What makes a bad presentation?</a:t>
            </a:r>
          </a:p>
        </p:txBody>
      </p:sp>
      <p:sp>
        <p:nvSpPr>
          <p:cNvPr id="3" name="Content Placeholder 2">
            <a:extLst>
              <a:ext uri="{FF2B5EF4-FFF2-40B4-BE49-F238E27FC236}">
                <a16:creationId xmlns:a16="http://schemas.microsoft.com/office/drawing/2014/main" id="{2C38294E-21D9-08FD-293D-2CF8C55AD986}"/>
              </a:ext>
            </a:extLst>
          </p:cNvPr>
          <p:cNvSpPr>
            <a:spLocks noGrp="1"/>
          </p:cNvSpPr>
          <p:nvPr>
            <p:ph idx="1"/>
          </p:nvPr>
        </p:nvSpPr>
        <p:spPr>
          <a:xfrm>
            <a:off x="203990" y="1278681"/>
            <a:ext cx="6597643" cy="4300637"/>
          </a:xfrm>
        </p:spPr>
        <p:txBody>
          <a:bodyPr/>
          <a:lstStyle/>
          <a:p>
            <a:pPr>
              <a:lnSpc>
                <a:spcPct val="150000"/>
              </a:lnSpc>
            </a:pPr>
            <a:r>
              <a:rPr lang="en-GB" sz="2400" dirty="0"/>
              <a:t>Lack of preparation!</a:t>
            </a:r>
          </a:p>
          <a:p>
            <a:pPr>
              <a:lnSpc>
                <a:spcPct val="150000"/>
              </a:lnSpc>
            </a:pPr>
            <a:r>
              <a:rPr lang="en-GB" sz="2400" dirty="0"/>
              <a:t>Incoherent structure.</a:t>
            </a:r>
          </a:p>
          <a:p>
            <a:pPr>
              <a:lnSpc>
                <a:spcPct val="150000"/>
              </a:lnSpc>
            </a:pPr>
            <a:r>
              <a:rPr lang="en-GB" sz="2400" dirty="0"/>
              <a:t>Rambling / irrelevant / uninteresting content.</a:t>
            </a:r>
          </a:p>
          <a:p>
            <a:pPr>
              <a:lnSpc>
                <a:spcPct val="150000"/>
              </a:lnSpc>
            </a:pPr>
            <a:r>
              <a:rPr lang="en-GB" sz="2400" dirty="0"/>
              <a:t>Poorly paced / pitched delivery.</a:t>
            </a:r>
          </a:p>
          <a:p>
            <a:pPr>
              <a:lnSpc>
                <a:spcPct val="150000"/>
              </a:lnSpc>
            </a:pPr>
            <a:r>
              <a:rPr lang="en-GB" sz="2400" dirty="0"/>
              <a:t>Absent / unattractive / inaccessible visual aids.</a:t>
            </a:r>
          </a:p>
          <a:p>
            <a:pPr>
              <a:lnSpc>
                <a:spcPct val="150000"/>
              </a:lnSpc>
            </a:pPr>
            <a:r>
              <a:rPr lang="en-GB" sz="2400" dirty="0"/>
              <a:t>Running over time. </a:t>
            </a:r>
          </a:p>
          <a:p>
            <a:pPr>
              <a:lnSpc>
                <a:spcPct val="150000"/>
              </a:lnSpc>
            </a:pPr>
            <a:r>
              <a:rPr lang="en-GB" sz="2400" dirty="0"/>
              <a:t>Inability to answer questions. </a:t>
            </a:r>
          </a:p>
          <a:p>
            <a:endParaRPr lang="en-GB" dirty="0"/>
          </a:p>
        </p:txBody>
      </p:sp>
      <p:pic>
        <p:nvPicPr>
          <p:cNvPr id="1028" name="Picture 4" descr="A picture of Peppa pig world">
            <a:extLst>
              <a:ext uri="{FF2B5EF4-FFF2-40B4-BE49-F238E27FC236}">
                <a16:creationId xmlns:a16="http://schemas.microsoft.com/office/drawing/2014/main" id="{95A4B824-E5F1-0840-D4FE-51ED03A5FD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060" y="1899028"/>
            <a:ext cx="5689940" cy="3262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45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EFA45-DED2-B0A5-8865-2DD019C65DA8}"/>
              </a:ext>
            </a:extLst>
          </p:cNvPr>
          <p:cNvSpPr>
            <a:spLocks noGrp="1"/>
          </p:cNvSpPr>
          <p:nvPr>
            <p:ph type="title"/>
          </p:nvPr>
        </p:nvSpPr>
        <p:spPr/>
        <p:txBody>
          <a:bodyPr/>
          <a:lstStyle/>
          <a:p>
            <a:r>
              <a:rPr lang="en-GB" dirty="0"/>
              <a:t>Presentation structure </a:t>
            </a:r>
          </a:p>
        </p:txBody>
      </p:sp>
      <p:sp>
        <p:nvSpPr>
          <p:cNvPr id="3" name="Content Placeholder 2">
            <a:extLst>
              <a:ext uri="{FF2B5EF4-FFF2-40B4-BE49-F238E27FC236}">
                <a16:creationId xmlns:a16="http://schemas.microsoft.com/office/drawing/2014/main" id="{D8C87F92-EE9A-E2B6-265C-23997BCD5DF1}"/>
              </a:ext>
            </a:extLst>
          </p:cNvPr>
          <p:cNvSpPr>
            <a:spLocks noGrp="1"/>
          </p:cNvSpPr>
          <p:nvPr>
            <p:ph idx="1"/>
          </p:nvPr>
        </p:nvSpPr>
        <p:spPr>
          <a:xfrm>
            <a:off x="263367" y="2295092"/>
            <a:ext cx="5799590" cy="3495366"/>
          </a:xfrm>
        </p:spPr>
        <p:txBody>
          <a:bodyPr/>
          <a:lstStyle/>
          <a:p>
            <a:pPr>
              <a:lnSpc>
                <a:spcPct val="150000"/>
              </a:lnSpc>
            </a:pPr>
            <a:r>
              <a:rPr lang="en-GB" sz="2400" dirty="0"/>
              <a:t>Keep it logical – check the assignment requirements. Are there specific sections you need to include? </a:t>
            </a:r>
          </a:p>
          <a:p>
            <a:pPr>
              <a:lnSpc>
                <a:spcPct val="150000"/>
              </a:lnSpc>
            </a:pPr>
            <a:r>
              <a:rPr lang="en-GB" sz="2400" dirty="0"/>
              <a:t>Clear beginning, middle, end. </a:t>
            </a:r>
          </a:p>
        </p:txBody>
      </p:sp>
      <p:pic>
        <p:nvPicPr>
          <p:cNvPr id="1028" name="Picture 4" descr="How to structure a presentation a guide with examples">
            <a:extLst>
              <a:ext uri="{FF2B5EF4-FFF2-40B4-BE49-F238E27FC236}">
                <a16:creationId xmlns:a16="http://schemas.microsoft.com/office/drawing/2014/main" id="{EA2CBEA6-DE41-53CE-C134-C027903D14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1715" y="1317731"/>
            <a:ext cx="5799590" cy="4349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72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AE82C-20FC-402F-A3D8-131E2A12B773}"/>
              </a:ext>
            </a:extLst>
          </p:cNvPr>
          <p:cNvSpPr>
            <a:spLocks noGrp="1"/>
          </p:cNvSpPr>
          <p:nvPr>
            <p:ph type="title"/>
          </p:nvPr>
        </p:nvSpPr>
        <p:spPr>
          <a:xfrm>
            <a:off x="203990" y="156781"/>
            <a:ext cx="11717934" cy="1061883"/>
          </a:xfrm>
        </p:spPr>
        <p:txBody>
          <a:bodyPr wrap="square" anchor="ctr">
            <a:normAutofit/>
          </a:bodyPr>
          <a:lstStyle/>
          <a:p>
            <a:r>
              <a:rPr lang="en-GB" dirty="0"/>
              <a:t>Presentation timing </a:t>
            </a:r>
          </a:p>
        </p:txBody>
      </p:sp>
      <p:sp>
        <p:nvSpPr>
          <p:cNvPr id="3" name="Content Placeholder 2">
            <a:extLst>
              <a:ext uri="{FF2B5EF4-FFF2-40B4-BE49-F238E27FC236}">
                <a16:creationId xmlns:a16="http://schemas.microsoft.com/office/drawing/2014/main" id="{36D51A3C-46AB-400B-8C13-F154D063FDA5}"/>
              </a:ext>
            </a:extLst>
          </p:cNvPr>
          <p:cNvSpPr>
            <a:spLocks noGrp="1"/>
          </p:cNvSpPr>
          <p:nvPr>
            <p:ph sz="half" idx="1"/>
          </p:nvPr>
        </p:nvSpPr>
        <p:spPr>
          <a:xfrm>
            <a:off x="203989" y="1442981"/>
            <a:ext cx="5672091" cy="4351338"/>
          </a:xfrm>
          <a:solidFill>
            <a:schemeClr val="accent2">
              <a:lumMod val="20000"/>
              <a:lumOff val="80000"/>
            </a:schemeClr>
          </a:solidFill>
        </p:spPr>
        <p:txBody>
          <a:bodyPr wrap="square" anchor="t">
            <a:normAutofit fontScale="85000" lnSpcReduction="20000"/>
          </a:bodyPr>
          <a:lstStyle/>
          <a:p>
            <a:pPr marL="0" indent="0" algn="ctr">
              <a:lnSpc>
                <a:spcPct val="150000"/>
              </a:lnSpc>
              <a:buNone/>
            </a:pPr>
            <a:r>
              <a:rPr lang="en-GB" sz="2400" dirty="0"/>
              <a:t>Consider …</a:t>
            </a:r>
          </a:p>
          <a:p>
            <a:pPr>
              <a:lnSpc>
                <a:spcPct val="150000"/>
              </a:lnSpc>
            </a:pPr>
            <a:r>
              <a:rPr lang="en-GB" sz="2400" dirty="0"/>
              <a:t>Think carefully about more than one slide per minute.</a:t>
            </a:r>
          </a:p>
          <a:p>
            <a:pPr>
              <a:lnSpc>
                <a:spcPct val="150000"/>
              </a:lnSpc>
            </a:pPr>
            <a:r>
              <a:rPr lang="en-GB" sz="2400" dirty="0"/>
              <a:t>Remember:</a:t>
            </a:r>
          </a:p>
          <a:p>
            <a:pPr lvl="1">
              <a:lnSpc>
                <a:spcPct val="150000"/>
              </a:lnSpc>
            </a:pPr>
            <a:r>
              <a:rPr lang="en-GB" dirty="0"/>
              <a:t>Certain slides can be delivered quickly (e.g., group introductions).</a:t>
            </a:r>
          </a:p>
          <a:p>
            <a:pPr lvl="1">
              <a:lnSpc>
                <a:spcPct val="150000"/>
              </a:lnSpc>
            </a:pPr>
            <a:r>
              <a:rPr lang="en-GB" dirty="0"/>
              <a:t>Others may longer to explain. </a:t>
            </a:r>
          </a:p>
          <a:p>
            <a:pPr>
              <a:lnSpc>
                <a:spcPct val="150000"/>
              </a:lnSpc>
            </a:pPr>
            <a:r>
              <a:rPr lang="en-GB" sz="2400" dirty="0"/>
              <a:t>The time limit gives you an indication of the depth of detail expected.</a:t>
            </a:r>
          </a:p>
        </p:txBody>
      </p:sp>
      <p:pic>
        <p:nvPicPr>
          <p:cNvPr id="5" name="Picture 4" descr="A picture containing text, clock&#10;&#10;Description automatically generated">
            <a:extLst>
              <a:ext uri="{FF2B5EF4-FFF2-40B4-BE49-F238E27FC236}">
                <a16:creationId xmlns:a16="http://schemas.microsoft.com/office/drawing/2014/main" id="{90F4290E-4950-04E9-2F7E-687817DF6BAE}"/>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858371" y="1439806"/>
            <a:ext cx="4351338" cy="4351338"/>
          </a:xfrm>
          <a:prstGeom prst="rect">
            <a:avLst/>
          </a:prstGeom>
          <a:noFill/>
        </p:spPr>
      </p:pic>
    </p:spTree>
    <p:extLst>
      <p:ext uri="{BB962C8B-B14F-4D97-AF65-F5344CB8AC3E}">
        <p14:creationId xmlns:p14="http://schemas.microsoft.com/office/powerpoint/2010/main" val="279319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gradFill rotWithShape="0">
            <a:gsLst>
              <a:gs pos="0">
                <a:srgbClr val="A603AB"/>
              </a:gs>
              <a:gs pos="6000">
                <a:srgbClr val="E81766"/>
              </a:gs>
              <a:gs pos="13500">
                <a:srgbClr val="EE3F17"/>
              </a:gs>
              <a:gs pos="24000">
                <a:srgbClr val="FFFF00"/>
              </a:gs>
              <a:gs pos="32499">
                <a:srgbClr val="1A8D48"/>
              </a:gs>
              <a:gs pos="39500">
                <a:srgbClr val="0819FB"/>
              </a:gs>
              <a:gs pos="50000">
                <a:srgbClr val="A603AB"/>
              </a:gs>
              <a:gs pos="60501">
                <a:srgbClr val="0819FB"/>
              </a:gs>
              <a:gs pos="67501">
                <a:srgbClr val="1A8D48"/>
              </a:gs>
              <a:gs pos="76000">
                <a:srgbClr val="FFFF00"/>
              </a:gs>
              <a:gs pos="86500">
                <a:srgbClr val="EE3F17"/>
              </a:gs>
              <a:gs pos="94000">
                <a:srgbClr val="E81766"/>
              </a:gs>
              <a:gs pos="100000">
                <a:srgbClr val="A603AB"/>
              </a:gs>
            </a:gsLst>
            <a:lin ang="0" scaled="1"/>
          </a:gradFill>
        </p:spPr>
        <p:txBody>
          <a:bodyPr/>
          <a:lstStyle/>
          <a:p>
            <a:pPr eaLnBrk="1" hangingPunct="1">
              <a:defRPr/>
            </a:pPr>
            <a:r>
              <a:rPr lang="en-US" dirty="0">
                <a:latin typeface="Arial" panose="020B0604020202020204" pitchFamily="34" charset="0"/>
                <a:cs typeface="Arial" panose="020B0604020202020204" pitchFamily="34" charset="0"/>
              </a:rPr>
              <a:t>An Example of a </a:t>
            </a:r>
            <a:r>
              <a:rPr lang="en-US" dirty="0" err="1">
                <a:latin typeface="Arial" panose="020B0604020202020204" pitchFamily="34" charset="0"/>
                <a:cs typeface="Arial" panose="020B0604020202020204" pitchFamily="34" charset="0"/>
              </a:rPr>
              <a:t>Parituclarly</a:t>
            </a:r>
            <a:r>
              <a:rPr lang="en-US" dirty="0">
                <a:latin typeface="Arial" panose="020B0604020202020204" pitchFamily="34" charset="0"/>
                <a:cs typeface="Arial" panose="020B0604020202020204" pitchFamily="34" charset="0"/>
              </a:rPr>
              <a:t> Bad Slide Layout for a Presentation (Slide Layout – Bad)</a:t>
            </a:r>
          </a:p>
        </p:txBody>
      </p:sp>
      <p:sp>
        <p:nvSpPr>
          <p:cNvPr id="6147" name="Rectangle 3"/>
          <p:cNvSpPr>
            <a:spLocks noGrp="1" noChangeArrowheads="1"/>
          </p:cNvSpPr>
          <p:nvPr>
            <p:ph idx="1"/>
          </p:nvPr>
        </p:nvSpPr>
        <p:spPr>
          <a:gradFill rotWithShape="0">
            <a:gsLst>
              <a:gs pos="0">
                <a:srgbClr val="A603AB"/>
              </a:gs>
              <a:gs pos="10501">
                <a:srgbClr val="0819FB"/>
              </a:gs>
              <a:gs pos="17501">
                <a:srgbClr val="1A8D48"/>
              </a:gs>
              <a:gs pos="26000">
                <a:srgbClr val="FFFF00"/>
              </a:gs>
              <a:gs pos="36500">
                <a:srgbClr val="EE3F17"/>
              </a:gs>
              <a:gs pos="44000">
                <a:srgbClr val="E81766"/>
              </a:gs>
              <a:gs pos="50000">
                <a:srgbClr val="A603AB"/>
              </a:gs>
              <a:gs pos="56000">
                <a:srgbClr val="E81766"/>
              </a:gs>
              <a:gs pos="63500">
                <a:srgbClr val="EE3F17"/>
              </a:gs>
              <a:gs pos="74000">
                <a:srgbClr val="FFFF00"/>
              </a:gs>
              <a:gs pos="82500">
                <a:srgbClr val="1A8D48"/>
              </a:gs>
              <a:gs pos="89500">
                <a:srgbClr val="0819FB"/>
              </a:gs>
              <a:gs pos="100000">
                <a:srgbClr val="A603AB"/>
              </a:gs>
            </a:gsLst>
            <a:lin ang="18900000" scaled="1"/>
          </a:gradFill>
        </p:spPr>
        <p:txBody>
          <a:bodyPr/>
          <a:lstStyle/>
          <a:p>
            <a:pPr eaLnBrk="1" hangingPunct="1">
              <a:defRPr/>
            </a:pPr>
            <a:r>
              <a:rPr lang="en-US" sz="1800" dirty="0">
                <a:solidFill>
                  <a:schemeClr val="accent1"/>
                </a:solidFill>
                <a:latin typeface="Arial" panose="020B0604020202020204" pitchFamily="34" charset="0"/>
                <a:cs typeface="Arial" panose="020B0604020202020204" pitchFamily="34" charset="0"/>
              </a:rPr>
              <a:t>Avoid backgrounds, animations and font </a:t>
            </a:r>
            <a:r>
              <a:rPr lang="en-US" sz="1800" dirty="0" err="1">
                <a:solidFill>
                  <a:schemeClr val="accent1"/>
                </a:solidFill>
                <a:latin typeface="Arial" panose="020B0604020202020204" pitchFamily="34" charset="0"/>
                <a:cs typeface="Arial" panose="020B0604020202020204" pitchFamily="34" charset="0"/>
              </a:rPr>
              <a:t>colours</a:t>
            </a:r>
            <a:r>
              <a:rPr lang="en-US" sz="1800" dirty="0">
                <a:solidFill>
                  <a:schemeClr val="accent1"/>
                </a:solidFill>
                <a:latin typeface="Arial" panose="020B0604020202020204" pitchFamily="34" charset="0"/>
                <a:cs typeface="Arial" panose="020B0604020202020204" pitchFamily="34" charset="0"/>
              </a:rPr>
              <a:t> that are distracting or difficult to read.</a:t>
            </a:r>
          </a:p>
          <a:p>
            <a:pPr eaLnBrk="1" hangingPunct="1">
              <a:defRPr/>
            </a:pPr>
            <a:r>
              <a:rPr lang="en-US" sz="1800" dirty="0">
                <a:solidFill>
                  <a:schemeClr val="tx1"/>
                </a:solidFill>
                <a:latin typeface="Arial" panose="020B0604020202020204" pitchFamily="34" charset="0"/>
                <a:cs typeface="Arial" panose="020B0604020202020204" pitchFamily="34" charset="0"/>
              </a:rPr>
              <a:t>Always be consistent with the background that you use.</a:t>
            </a:r>
          </a:p>
          <a:p>
            <a:pPr eaLnBrk="1" hangingPunct="1">
              <a:defRPr/>
            </a:pPr>
            <a:r>
              <a:rPr lang="en-US" sz="1800" dirty="0">
                <a:solidFill>
                  <a:schemeClr val="tx1"/>
                </a:solidFill>
                <a:latin typeface="Arial" panose="020B0604020202020204" pitchFamily="34" charset="0"/>
                <a:cs typeface="Arial" panose="020B0604020202020204" pitchFamily="34" charset="0"/>
              </a:rPr>
              <a:t>Avoid using </a:t>
            </a:r>
            <a:r>
              <a:rPr lang="en-US" sz="1800" dirty="0">
                <a:solidFill>
                  <a:schemeClr val="tx1"/>
                </a:solidFill>
                <a:latin typeface="Blackadder ITC" panose="04020505051007020D02" pitchFamily="82" charset="0"/>
              </a:rPr>
              <a:t>complicated</a:t>
            </a:r>
            <a:r>
              <a:rPr lang="en-US" sz="1800" dirty="0">
                <a:solidFill>
                  <a:schemeClr val="tx1"/>
                </a:solidFill>
              </a:rPr>
              <a:t>, </a:t>
            </a:r>
            <a:r>
              <a:rPr lang="en-US" sz="1800" dirty="0">
                <a:solidFill>
                  <a:schemeClr val="tx1"/>
                </a:solidFill>
                <a:latin typeface="Algerian" panose="04020705040A02060702" pitchFamily="82" charset="0"/>
              </a:rPr>
              <a:t>CAPITALISED</a:t>
            </a:r>
            <a:r>
              <a:rPr lang="en-US" sz="1800" dirty="0">
                <a:solidFill>
                  <a:schemeClr val="tx1"/>
                </a:solidFill>
              </a:rPr>
              <a:t>, </a:t>
            </a:r>
            <a:r>
              <a:rPr lang="en-US" sz="1800" dirty="0">
                <a:solidFill>
                  <a:schemeClr val="tx1"/>
                </a:solidFill>
                <a:latin typeface="Arial" panose="020B0604020202020204" pitchFamily="34" charset="0"/>
                <a:cs typeface="Arial" panose="020B0604020202020204" pitchFamily="34" charset="0"/>
              </a:rPr>
              <a:t>or</a:t>
            </a:r>
            <a:r>
              <a:rPr lang="en-US" sz="1800" dirty="0">
                <a:solidFill>
                  <a:schemeClr val="tx1"/>
                </a:solidFill>
              </a:rPr>
              <a:t> </a:t>
            </a:r>
            <a:r>
              <a:rPr lang="en-US" sz="1050" dirty="0">
                <a:solidFill>
                  <a:schemeClr val="tx1"/>
                </a:solidFill>
              </a:rPr>
              <a:t>small</a:t>
            </a:r>
            <a:r>
              <a:rPr lang="en-US" sz="1800" dirty="0">
                <a:solidFill>
                  <a:schemeClr val="tx1"/>
                </a:solidFill>
              </a:rPr>
              <a:t> </a:t>
            </a:r>
            <a:r>
              <a:rPr lang="en-US" sz="1800" dirty="0">
                <a:solidFill>
                  <a:schemeClr val="tx1"/>
                </a:solidFill>
                <a:latin typeface="Arial" panose="020B0604020202020204" pitchFamily="34" charset="0"/>
                <a:cs typeface="Arial" panose="020B0604020202020204" pitchFamily="34" charset="0"/>
              </a:rPr>
              <a:t>fonts – they are difficult to read.</a:t>
            </a:r>
          </a:p>
          <a:p>
            <a:pPr eaLnBrk="1" hangingPunct="1">
              <a:defRPr/>
            </a:pPr>
            <a:r>
              <a:rPr lang="en-US" sz="1800" dirty="0">
                <a:solidFill>
                  <a:schemeClr val="tx1"/>
                </a:solidFill>
                <a:latin typeface="Arial" panose="020B0604020202020204" pitchFamily="34" charset="0"/>
                <a:cs typeface="Arial" panose="020B0604020202020204" pitchFamily="34" charset="0"/>
              </a:rPr>
              <a:t>Use font size 18 or larger – use </a:t>
            </a:r>
            <a:r>
              <a:rPr lang="en-US" sz="1800" dirty="0" err="1">
                <a:solidFill>
                  <a:schemeClr val="tx1"/>
                </a:solidFill>
                <a:latin typeface="Arial" panose="020B0604020202020204" pitchFamily="34" charset="0"/>
                <a:cs typeface="Arial" panose="020B0604020202020204" pitchFamily="34" charset="0"/>
              </a:rPr>
              <a:t>colours</a:t>
            </a:r>
            <a:r>
              <a:rPr lang="en-US" sz="1800" dirty="0">
                <a:solidFill>
                  <a:schemeClr val="tx1"/>
                </a:solidFill>
                <a:latin typeface="Arial" panose="020B0604020202020204" pitchFamily="34" charset="0"/>
                <a:cs typeface="Arial" panose="020B0604020202020204" pitchFamily="34" charset="0"/>
              </a:rPr>
              <a:t> and change sizes to </a:t>
            </a:r>
            <a:r>
              <a:rPr lang="en-US" sz="1800" dirty="0" err="1">
                <a:solidFill>
                  <a:schemeClr val="tx1"/>
                </a:solidFill>
                <a:latin typeface="Arial" panose="020B0604020202020204" pitchFamily="34" charset="0"/>
                <a:cs typeface="Arial" panose="020B0604020202020204" pitchFamily="34" charset="0"/>
              </a:rPr>
              <a:t>emphasise</a:t>
            </a:r>
            <a:r>
              <a:rPr lang="en-US" sz="1800" dirty="0">
                <a:solidFill>
                  <a:schemeClr val="tx1"/>
                </a:solidFill>
                <a:latin typeface="Arial" panose="020B0604020202020204" pitchFamily="34" charset="0"/>
                <a:cs typeface="Arial" panose="020B0604020202020204" pitchFamily="34" charset="0"/>
              </a:rPr>
              <a:t> information, but don’t overuse or it will become confusing. </a:t>
            </a:r>
          </a:p>
          <a:p>
            <a:pPr eaLnBrk="1" hangingPunct="1">
              <a:buFont typeface="Wingdings" pitchFamily="2" charset="2"/>
              <a:buNone/>
              <a:defRPr/>
            </a:pPr>
            <a:endParaRPr lang="en-US" dirty="0">
              <a:solidFill>
                <a:schemeClr val="accent1"/>
              </a:solidFill>
            </a:endParaRPr>
          </a:p>
          <a:p>
            <a:pPr eaLnBrk="1" hangingPunct="1">
              <a:defRPr/>
            </a:pPr>
            <a:endParaRPr lang="en-US" dirty="0">
              <a:solidFill>
                <a:schemeClr val="accent1"/>
              </a:solidFill>
            </a:endParaRPr>
          </a:p>
          <a:p>
            <a:pPr eaLnBrk="1" hangingPunct="1">
              <a:defRPr/>
            </a:pPr>
            <a:endParaRPr lang="en-US" dirty="0">
              <a:solidFill>
                <a:schemeClr val="accent1"/>
              </a:solidFill>
            </a:endParaRPr>
          </a:p>
          <a:p>
            <a:pPr marL="0" indent="0" eaLnBrk="1" hangingPunct="1">
              <a:buNone/>
              <a:defRPr/>
            </a:pPr>
            <a:endParaRPr lang="en-US" dirty="0">
              <a:solidFill>
                <a:schemeClr val="accent1"/>
              </a:solidFill>
            </a:endParaRPr>
          </a:p>
        </p:txBody>
      </p:sp>
      <p:pic>
        <p:nvPicPr>
          <p:cNvPr id="6148" name="Picture 4" descr="pe07677_"/>
          <p:cNvPicPr>
            <a:picLocks noChangeAspect="1" noChangeArrowheads="1"/>
          </p:cNvPicPr>
          <p:nvPr/>
        </p:nvPicPr>
        <p:blipFill>
          <a:blip r:embed="rId4" cstate="print"/>
          <a:srcRect/>
          <a:stretch>
            <a:fillRect/>
          </a:stretch>
        </p:blipFill>
        <p:spPr bwMode="auto">
          <a:xfrm>
            <a:off x="7508151" y="3834536"/>
            <a:ext cx="2473325" cy="2479675"/>
          </a:xfrm>
          <a:prstGeom prst="rect">
            <a:avLst/>
          </a:prstGeom>
          <a:noFill/>
          <a:ln w="9525">
            <a:noFill/>
            <a:miter lim="800000"/>
            <a:headEnd/>
            <a:tailEnd/>
          </a:ln>
        </p:spPr>
      </p:pic>
    </p:spTree>
    <p:extLst>
      <p:ext uri="{BB962C8B-B14F-4D97-AF65-F5344CB8AC3E}">
        <p14:creationId xmlns:p14="http://schemas.microsoft.com/office/powerpoint/2010/main" val="339894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 calcmode="lin" valueType="num">
                                      <p:cBhvr additive="base">
                                        <p:cTn id="7" dur="500" fill="hold"/>
                                        <p:tgtEl>
                                          <p:spTgt spid="6148"/>
                                        </p:tgtEl>
                                        <p:attrNameLst>
                                          <p:attrName>ppt_x</p:attrName>
                                        </p:attrNameLst>
                                      </p:cBhvr>
                                      <p:tavLst>
                                        <p:tav tm="0">
                                          <p:val>
                                            <p:strVal val="#ppt_x"/>
                                          </p:val>
                                        </p:tav>
                                        <p:tav tm="100000">
                                          <p:val>
                                            <p:strVal val="#ppt_x"/>
                                          </p:val>
                                        </p:tav>
                                      </p:tavLst>
                                    </p:anim>
                                    <p:anim calcmode="lin" valueType="num">
                                      <p:cBhvr additive="base">
                                        <p:cTn id="8" dur="500" fill="hold"/>
                                        <p:tgtEl>
                                          <p:spTgt spid="6148"/>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4E11-1019-400C-9186-ABC4EDD1AC28}"/>
              </a:ext>
            </a:extLst>
          </p:cNvPr>
          <p:cNvSpPr>
            <a:spLocks noGrp="1"/>
          </p:cNvSpPr>
          <p:nvPr>
            <p:ph type="title"/>
          </p:nvPr>
        </p:nvSpPr>
        <p:spPr>
          <a:xfrm>
            <a:off x="203990" y="0"/>
            <a:ext cx="11717934" cy="1325563"/>
          </a:xfrm>
        </p:spPr>
        <p:txBody>
          <a:bodyPr/>
          <a:lstStyle/>
          <a:p>
            <a:r>
              <a:rPr lang="en-GB" sz="4800"/>
              <a:t>Visual aids: top tips</a:t>
            </a:r>
          </a:p>
        </p:txBody>
      </p:sp>
      <p:sp>
        <p:nvSpPr>
          <p:cNvPr id="3" name="Content Placeholder 2">
            <a:extLst>
              <a:ext uri="{FF2B5EF4-FFF2-40B4-BE49-F238E27FC236}">
                <a16:creationId xmlns:a16="http://schemas.microsoft.com/office/drawing/2014/main" id="{24B37B32-52B1-48EE-82D2-A627A306C3B6}"/>
              </a:ext>
            </a:extLst>
          </p:cNvPr>
          <p:cNvSpPr>
            <a:spLocks noGrp="1"/>
          </p:cNvSpPr>
          <p:nvPr>
            <p:ph idx="1"/>
          </p:nvPr>
        </p:nvSpPr>
        <p:spPr>
          <a:solidFill>
            <a:schemeClr val="accent2">
              <a:lumMod val="20000"/>
              <a:lumOff val="80000"/>
            </a:schemeClr>
          </a:solidFill>
        </p:spPr>
        <p:txBody>
          <a:bodyPr/>
          <a:lstStyle/>
          <a:p>
            <a:pPr marL="285750" indent="-285750">
              <a:lnSpc>
                <a:spcPct val="150000"/>
              </a:lnSpc>
            </a:pPr>
            <a:r>
              <a:rPr lang="en-GB" sz="2400" dirty="0"/>
              <a:t>1 main point / topic per slide.</a:t>
            </a:r>
          </a:p>
          <a:p>
            <a:pPr marL="285750" indent="-285750">
              <a:lnSpc>
                <a:spcPct val="150000"/>
              </a:lnSpc>
            </a:pPr>
            <a:r>
              <a:rPr lang="en-GB" sz="2400" dirty="0"/>
              <a:t>Text formatting: font size 20 minimum, sans serif/</a:t>
            </a:r>
            <a:r>
              <a:rPr lang="en-GB" sz="2400" dirty="0" err="1"/>
              <a:t>calibri</a:t>
            </a:r>
            <a:r>
              <a:rPr lang="en-GB" sz="2400" dirty="0"/>
              <a:t>, avoid underlining. </a:t>
            </a:r>
          </a:p>
          <a:p>
            <a:pPr marL="285750" indent="-285750">
              <a:lnSpc>
                <a:spcPct val="150000"/>
              </a:lnSpc>
            </a:pPr>
            <a:r>
              <a:rPr lang="en-GB" sz="2400" dirty="0"/>
              <a:t>Colour and contrast: avoid strongly patterned backgrounds. </a:t>
            </a:r>
          </a:p>
          <a:p>
            <a:pPr marL="285750" indent="-285750">
              <a:lnSpc>
                <a:spcPct val="150000"/>
              </a:lnSpc>
            </a:pPr>
            <a:r>
              <a:rPr lang="en-GB" sz="2400" dirty="0"/>
              <a:t>Can be good to use bullet points (max. 6 per slide) and keywords. </a:t>
            </a:r>
          </a:p>
          <a:p>
            <a:pPr marL="285750" indent="-285750">
              <a:lnSpc>
                <a:spcPct val="150000"/>
              </a:lnSpc>
            </a:pPr>
            <a:r>
              <a:rPr lang="en-GB" sz="2400" dirty="0"/>
              <a:t>Use images, graphs, diagrams and flowcharts where appropriate to illustrate your points. </a:t>
            </a:r>
          </a:p>
          <a:p>
            <a:pPr marL="742950" lvl="1" indent="-285750">
              <a:lnSpc>
                <a:spcPct val="150000"/>
              </a:lnSpc>
            </a:pPr>
            <a:r>
              <a:rPr lang="en-GB" sz="2000" dirty="0"/>
              <a:t>Let these take centre-stage and talk around them – they are more than just add-ons!  </a:t>
            </a:r>
          </a:p>
        </p:txBody>
      </p:sp>
    </p:spTree>
    <p:extLst>
      <p:ext uri="{BB962C8B-B14F-4D97-AF65-F5344CB8AC3E}">
        <p14:creationId xmlns:p14="http://schemas.microsoft.com/office/powerpoint/2010/main" val="419012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203990" y="156781"/>
            <a:ext cx="11717934" cy="1061883"/>
          </a:xfrm>
          <a:prstGeom prst="rect">
            <a:avLst/>
          </a:prstGeom>
          <a:noFill/>
          <a:ln>
            <a:noFill/>
          </a:ln>
        </p:spPr>
        <p:txBody>
          <a:bodyPr vert="horz" wrap="square" lIns="91440" tIns="45720" rIns="91440" bIns="45720" numCol="1"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latinLnBrk="0">
              <a:spcAft>
                <a:spcPts val="600"/>
              </a:spcAft>
              <a:buClrTx/>
              <a:buSzTx/>
              <a:buFontTx/>
              <a:buNone/>
              <a:tabLst/>
              <a:defRPr/>
            </a:pPr>
            <a:r>
              <a:rPr lang="en-GB" b="1" dirty="0">
                <a:latin typeface="+mn-lt"/>
              </a:rPr>
              <a:t>Verbal communication </a:t>
            </a:r>
            <a:endParaRPr kumimoji="0" lang="en-GB" b="1" i="0" u="none" strike="noStrike" cap="none" spc="0" normalizeH="0" baseline="0" noProof="0" dirty="0">
              <a:ln>
                <a:noFill/>
              </a:ln>
              <a:effectLst/>
              <a:uLnTx/>
              <a:uFillTx/>
              <a:latin typeface="+mn-lt"/>
            </a:endParaRPr>
          </a:p>
        </p:txBody>
      </p:sp>
      <p:sp>
        <p:nvSpPr>
          <p:cNvPr id="3" name="Rectangle 2"/>
          <p:cNvSpPr/>
          <p:nvPr/>
        </p:nvSpPr>
        <p:spPr bwMode="auto">
          <a:xfrm>
            <a:off x="504615" y="1631143"/>
            <a:ext cx="4656108" cy="3968663"/>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normAutofit fontScale="92500" lnSpcReduction="10000"/>
          </a:bodyPr>
          <a:lstStyle/>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r>
              <a:rPr kumimoji="0" lang="en-GB" altLang="en-US" sz="2800" b="0" i="0" u="none" strike="noStrike" cap="none" spc="0" normalizeH="0" baseline="0" noProof="0" dirty="0">
                <a:ln>
                  <a:noFill/>
                </a:ln>
                <a:effectLst/>
                <a:uLnTx/>
                <a:uFillTx/>
                <a:latin typeface="+mn-lt"/>
              </a:rPr>
              <a:t>Clarity.</a:t>
            </a:r>
          </a:p>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r>
              <a:rPr kumimoji="0" lang="en-GB" altLang="en-US" sz="2800" b="0" i="0" u="none" strike="noStrike" cap="none" spc="0" normalizeH="0" baseline="0" noProof="0" dirty="0">
                <a:ln>
                  <a:noFill/>
                </a:ln>
                <a:effectLst/>
                <a:uLnTx/>
                <a:uFillTx/>
                <a:latin typeface="+mn-lt"/>
              </a:rPr>
              <a:t>Volume.</a:t>
            </a:r>
          </a:p>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r>
              <a:rPr kumimoji="0" lang="en-GB" altLang="en-US" sz="2800" b="0" i="0" u="none" strike="noStrike" cap="none" spc="0" normalizeH="0" baseline="0" noProof="0" dirty="0">
                <a:ln>
                  <a:noFill/>
                </a:ln>
                <a:effectLst/>
                <a:uLnTx/>
                <a:uFillTx/>
                <a:latin typeface="+mn-lt"/>
              </a:rPr>
              <a:t>Pace.</a:t>
            </a:r>
          </a:p>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r>
              <a:rPr kumimoji="0" lang="en-GB" altLang="en-US" sz="2800" b="0" i="0" u="none" strike="noStrike" cap="none" spc="0" normalizeH="0" baseline="0" noProof="0" dirty="0">
                <a:ln>
                  <a:noFill/>
                </a:ln>
                <a:effectLst/>
                <a:uLnTx/>
                <a:uFillTx/>
                <a:latin typeface="+mn-lt"/>
              </a:rPr>
              <a:t>Intonation.</a:t>
            </a:r>
          </a:p>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r>
              <a:rPr kumimoji="0" lang="en-GB" altLang="en-US" sz="2800" b="0" i="0" u="none" strike="noStrike" cap="none" spc="0" normalizeH="0" baseline="0" noProof="0" dirty="0">
                <a:ln>
                  <a:noFill/>
                </a:ln>
                <a:effectLst/>
                <a:uLnTx/>
                <a:uFillTx/>
                <a:latin typeface="+mn-lt"/>
              </a:rPr>
              <a:t>Accessibility.</a:t>
            </a:r>
          </a:p>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r>
              <a:rPr lang="en-GB" altLang="en-US" sz="2800" dirty="0">
                <a:latin typeface="+mn-lt"/>
              </a:rPr>
              <a:t>Emphasis.</a:t>
            </a:r>
            <a:endParaRPr kumimoji="0" lang="en-GB" altLang="en-US" sz="2800" b="0" i="0" u="none" strike="noStrike" cap="none" spc="0" normalizeH="0" baseline="0" noProof="0" dirty="0">
              <a:ln>
                <a:noFill/>
              </a:ln>
              <a:effectLst/>
              <a:uLnTx/>
              <a:uFillTx/>
              <a:latin typeface="+mn-lt"/>
            </a:endParaRPr>
          </a:p>
        </p:txBody>
      </p:sp>
      <p:pic>
        <p:nvPicPr>
          <p:cNvPr id="2050" name="Picture 2" descr="90+ Oral Presentation Stock Photos, Pictures &amp; Royalty-Free Images - iStock  | Speech, Training, Speaking">
            <a:extLst>
              <a:ext uri="{FF2B5EF4-FFF2-40B4-BE49-F238E27FC236}">
                <a16:creationId xmlns:a16="http://schemas.microsoft.com/office/drawing/2014/main" id="{6185B3C6-61D1-C511-E828-ADA11D6DE3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2957" y="1631143"/>
            <a:ext cx="58293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20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0628B-D8FF-0B46-8AEB-1410A1BB8D2C}"/>
              </a:ext>
            </a:extLst>
          </p:cNvPr>
          <p:cNvSpPr/>
          <p:nvPr/>
        </p:nvSpPr>
        <p:spPr bwMode="auto">
          <a:xfrm>
            <a:off x="400833" y="1333529"/>
            <a:ext cx="6115449" cy="4501270"/>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normAutofit/>
          </a:bodyPr>
          <a:lstStyle/>
          <a:p>
            <a:pPr marL="457200" marR="0" lvl="0" indent="-228600" defTabSz="914400" eaLnBrk="1" latinLnBrk="0" hangingPunct="1">
              <a:lnSpc>
                <a:spcPct val="150000"/>
              </a:lnSpc>
              <a:spcBef>
                <a:spcPct val="20000"/>
              </a:spcBef>
              <a:buSzPct val="95000"/>
              <a:buFont typeface="Arial" panose="020B0604020202020204" pitchFamily="34" charset="0"/>
              <a:buChar char="•"/>
              <a:tabLst/>
              <a:defRPr/>
            </a:pPr>
            <a:endParaRPr kumimoji="0" lang="en-GB" altLang="en-US" sz="2800" b="0" i="0" u="none" strike="noStrike" cap="none" spc="0" normalizeH="0" baseline="0" noProof="0" dirty="0">
              <a:ln>
                <a:noFill/>
              </a:ln>
              <a:effectLst/>
              <a:uLnTx/>
              <a:uFillTx/>
              <a:latin typeface="+mn-lt"/>
            </a:endParaRPr>
          </a:p>
        </p:txBody>
      </p:sp>
      <p:sp>
        <p:nvSpPr>
          <p:cNvPr id="2" name="Title 1">
            <a:extLst>
              <a:ext uri="{FF2B5EF4-FFF2-40B4-BE49-F238E27FC236}">
                <a16:creationId xmlns:a16="http://schemas.microsoft.com/office/drawing/2014/main" id="{79A4845B-7ABA-EDCC-ABC6-E4238A3460FB}"/>
              </a:ext>
            </a:extLst>
          </p:cNvPr>
          <p:cNvSpPr>
            <a:spLocks noGrp="1"/>
          </p:cNvSpPr>
          <p:nvPr>
            <p:ph type="title"/>
          </p:nvPr>
        </p:nvSpPr>
        <p:spPr/>
        <p:txBody>
          <a:bodyPr/>
          <a:lstStyle/>
          <a:p>
            <a:r>
              <a:rPr lang="en-GB" dirty="0"/>
              <a:t>Non-verbal communication</a:t>
            </a:r>
          </a:p>
        </p:txBody>
      </p:sp>
      <p:sp>
        <p:nvSpPr>
          <p:cNvPr id="3" name="Content Placeholder 2">
            <a:extLst>
              <a:ext uri="{FF2B5EF4-FFF2-40B4-BE49-F238E27FC236}">
                <a16:creationId xmlns:a16="http://schemas.microsoft.com/office/drawing/2014/main" id="{6D0458E0-DEC7-84BA-B872-C649F1147714}"/>
              </a:ext>
            </a:extLst>
          </p:cNvPr>
          <p:cNvSpPr>
            <a:spLocks noGrp="1"/>
          </p:cNvSpPr>
          <p:nvPr>
            <p:ph idx="1"/>
          </p:nvPr>
        </p:nvSpPr>
        <p:spPr>
          <a:xfrm>
            <a:off x="427429" y="1576013"/>
            <a:ext cx="6088853" cy="4300637"/>
          </a:xfrm>
        </p:spPr>
        <p:txBody>
          <a:bodyPr/>
          <a:lstStyle/>
          <a:p>
            <a:pPr>
              <a:lnSpc>
                <a:spcPct val="150000"/>
              </a:lnSpc>
            </a:pPr>
            <a:r>
              <a:rPr lang="en-GB" sz="2400" dirty="0"/>
              <a:t>‘Open’ posture. </a:t>
            </a:r>
          </a:p>
          <a:p>
            <a:pPr>
              <a:lnSpc>
                <a:spcPct val="150000"/>
              </a:lnSpc>
            </a:pPr>
            <a:r>
              <a:rPr lang="en-GB" sz="2400" dirty="0"/>
              <a:t>Good eye contact with the audience. </a:t>
            </a:r>
          </a:p>
          <a:p>
            <a:pPr>
              <a:lnSpc>
                <a:spcPct val="150000"/>
              </a:lnSpc>
            </a:pPr>
            <a:r>
              <a:rPr lang="en-GB" sz="2400" dirty="0"/>
              <a:t>Relevant gestures / linking to slides.</a:t>
            </a:r>
          </a:p>
          <a:p>
            <a:pPr>
              <a:lnSpc>
                <a:spcPct val="150000"/>
              </a:lnSpc>
            </a:pPr>
            <a:r>
              <a:rPr lang="en-GB" sz="2400" dirty="0"/>
              <a:t>Avoid looking down / reading from notes if you can. </a:t>
            </a:r>
          </a:p>
          <a:p>
            <a:pPr>
              <a:lnSpc>
                <a:spcPct val="150000"/>
              </a:lnSpc>
            </a:pPr>
            <a:r>
              <a:rPr lang="en-GB" sz="2400" dirty="0"/>
              <a:t>Some movement (but not constant pacing!). </a:t>
            </a:r>
          </a:p>
          <a:p>
            <a:endParaRPr lang="en-GB" dirty="0"/>
          </a:p>
        </p:txBody>
      </p:sp>
      <p:pic>
        <p:nvPicPr>
          <p:cNvPr id="1028" name="Picture 4" descr="5 mistakes people make reading your body language">
            <a:extLst>
              <a:ext uri="{FF2B5EF4-FFF2-40B4-BE49-F238E27FC236}">
                <a16:creationId xmlns:a16="http://schemas.microsoft.com/office/drawing/2014/main" id="{938CF8AD-F642-7831-5534-C06A0733018E}"/>
              </a:ext>
            </a:extLst>
          </p:cNvPr>
          <p:cNvPicPr>
            <a:picLocks noChangeAspect="1" noChangeArrowheads="1"/>
          </p:cNvPicPr>
          <p:nvPr/>
        </p:nvPicPr>
        <p:blipFill rotWithShape="1">
          <a:blip r:embed="rId3">
            <a:clrChange>
              <a:clrFrom>
                <a:srgbClr val="FEFFFF"/>
              </a:clrFrom>
              <a:clrTo>
                <a:srgbClr val="FEFFFF">
                  <a:alpha val="0"/>
                </a:srgbClr>
              </a:clrTo>
            </a:clrChange>
            <a:extLst>
              <a:ext uri="{28A0092B-C50C-407E-A947-70E740481C1C}">
                <a14:useLocalDpi xmlns:a14="http://schemas.microsoft.com/office/drawing/2010/main" val="0"/>
              </a:ext>
            </a:extLst>
          </a:blip>
          <a:srcRect l="9746" t="-1024" r="13478"/>
          <a:stretch/>
        </p:blipFill>
        <p:spPr bwMode="auto">
          <a:xfrm>
            <a:off x="6680547" y="1618897"/>
            <a:ext cx="5511453" cy="4079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63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Practise makes perfect</a:t>
            </a:r>
          </a:p>
        </p:txBody>
      </p:sp>
      <p:sp>
        <p:nvSpPr>
          <p:cNvPr id="3" name="Content Placeholder 2"/>
          <p:cNvSpPr>
            <a:spLocks noGrp="1"/>
          </p:cNvSpPr>
          <p:nvPr>
            <p:ph sz="half" idx="1"/>
          </p:nvPr>
        </p:nvSpPr>
        <p:spPr>
          <a:xfrm>
            <a:off x="297229" y="1253331"/>
            <a:ext cx="7435617" cy="4351338"/>
          </a:xfrm>
        </p:spPr>
        <p:txBody>
          <a:bodyPr/>
          <a:lstStyle/>
          <a:p>
            <a:r>
              <a:rPr lang="en-GB" sz="2400" dirty="0"/>
              <a:t>Presenter Coach: Office 365.</a:t>
            </a:r>
          </a:p>
          <a:p>
            <a:r>
              <a:rPr lang="en-GB" sz="2400" dirty="0"/>
              <a:t>Study Skills 1-2-1 sessions. </a:t>
            </a:r>
          </a:p>
          <a:p>
            <a:r>
              <a:rPr lang="en-GB" sz="2400" dirty="0"/>
              <a:t>Rehearse with an audience.</a:t>
            </a:r>
          </a:p>
          <a:p>
            <a:r>
              <a:rPr lang="en-GB" sz="2400" dirty="0"/>
              <a:t>Record yourself.</a:t>
            </a:r>
          </a:p>
          <a:p>
            <a:pPr marL="0" indent="0">
              <a:buNone/>
            </a:pPr>
            <a:endParaRPr lang="en-GB" sz="2400" dirty="0"/>
          </a:p>
          <a:p>
            <a:pPr marL="0" lvl="0" indent="0" eaLnBrk="0" hangingPunct="0">
              <a:lnSpc>
                <a:spcPct val="100000"/>
              </a:lnSpc>
              <a:spcBef>
                <a:spcPct val="20000"/>
              </a:spcBef>
              <a:spcAft>
                <a:spcPts val="600"/>
              </a:spcAft>
              <a:buSzPct val="95000"/>
              <a:buNone/>
              <a:defRPr/>
            </a:pPr>
            <a:r>
              <a:rPr lang="en-GB" sz="2400" dirty="0"/>
              <a:t>Remember to consider key elements:</a:t>
            </a:r>
          </a:p>
          <a:p>
            <a:endParaRPr lang="en-GB" sz="2400" dirty="0"/>
          </a:p>
          <a:p>
            <a:endParaRPr lang="en-GB" sz="2400" dirty="0"/>
          </a:p>
          <a:p>
            <a:endParaRPr lang="en-GB" dirty="0"/>
          </a:p>
        </p:txBody>
      </p:sp>
      <p:sp>
        <p:nvSpPr>
          <p:cNvPr id="12" name="TextBox 11">
            <a:extLst>
              <a:ext uri="{FF2B5EF4-FFF2-40B4-BE49-F238E27FC236}">
                <a16:creationId xmlns:a16="http://schemas.microsoft.com/office/drawing/2014/main" id="{E1A2C4BE-28AB-415D-921A-68A9B09403E1}"/>
              </a:ext>
            </a:extLst>
          </p:cNvPr>
          <p:cNvSpPr txBox="1"/>
          <p:nvPr/>
        </p:nvSpPr>
        <p:spPr>
          <a:xfrm>
            <a:off x="297229" y="4006591"/>
            <a:ext cx="5614555" cy="2760756"/>
          </a:xfrm>
          <a:prstGeom prst="rect">
            <a:avLst/>
          </a:prstGeom>
          <a:noFill/>
        </p:spPr>
        <p:txBody>
          <a:bodyPr wrap="square" numCol="2">
            <a:spAutoFit/>
          </a:bodyPr>
          <a:lstStyle/>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Clarity</a:t>
            </a: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Volume</a:t>
            </a: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Pace</a:t>
            </a: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Intonation</a:t>
            </a:r>
            <a:br>
              <a:rPr lang="en-GB" altLang="en-US" sz="2400" dirty="0">
                <a:cs typeface="Arial" charset="0"/>
              </a:rPr>
            </a:br>
            <a:br>
              <a:rPr lang="en-GB" altLang="en-US" sz="2400" dirty="0">
                <a:cs typeface="Arial" charset="0"/>
              </a:rPr>
            </a:br>
            <a:endParaRPr lang="en-GB" altLang="en-US" sz="2400" dirty="0">
              <a:cs typeface="Arial" charset="0"/>
            </a:endParaRP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Accessibility</a:t>
            </a: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Gesture</a:t>
            </a: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Expression</a:t>
            </a:r>
          </a:p>
          <a:p>
            <a:pPr marL="342900" lvl="0" indent="-342900" eaLnBrk="0" hangingPunct="0">
              <a:lnSpc>
                <a:spcPct val="100000"/>
              </a:lnSpc>
              <a:spcBef>
                <a:spcPct val="20000"/>
              </a:spcBef>
              <a:spcAft>
                <a:spcPts val="600"/>
              </a:spcAft>
              <a:buSzPct val="95000"/>
              <a:buFont typeface="Arial" panose="020B0604020202020204" pitchFamily="34" charset="0"/>
              <a:buChar char="•"/>
              <a:defRPr/>
            </a:pPr>
            <a:r>
              <a:rPr lang="en-GB" altLang="en-US" sz="2400" dirty="0">
                <a:cs typeface="Arial" charset="0"/>
              </a:rPr>
              <a:t>Emphasis</a:t>
            </a:r>
            <a:r>
              <a:rPr lang="en-GB" sz="2400" dirty="0"/>
              <a:t> </a:t>
            </a:r>
          </a:p>
        </p:txBody>
      </p:sp>
      <p:pic>
        <p:nvPicPr>
          <p:cNvPr id="4" name="Online Media 3" title="How to use Presenter Coach in PowerPoint!">
            <a:hlinkClick r:id="" action="ppaction://media"/>
            <a:extLst>
              <a:ext uri="{FF2B5EF4-FFF2-40B4-BE49-F238E27FC236}">
                <a16:creationId xmlns:a16="http://schemas.microsoft.com/office/drawing/2014/main" id="{381391A2-8BD5-CEB0-CA06-FBA652A64668}"/>
              </a:ext>
            </a:extLst>
          </p:cNvPr>
          <p:cNvPicPr>
            <a:picLocks noRot="1" noChangeAspect="1"/>
          </p:cNvPicPr>
          <p:nvPr>
            <a:videoFile r:link="rId1"/>
          </p:nvPr>
        </p:nvPicPr>
        <p:blipFill>
          <a:blip r:embed="rId4"/>
          <a:stretch>
            <a:fillRect/>
          </a:stretch>
        </p:blipFill>
        <p:spPr>
          <a:xfrm>
            <a:off x="5110274" y="1385794"/>
            <a:ext cx="7081726" cy="4001175"/>
          </a:xfrm>
          <a:prstGeom prst="rect">
            <a:avLst/>
          </a:prstGeom>
          <a:ln>
            <a:solidFill>
              <a:srgbClr val="4472C4"/>
            </a:solidFill>
          </a:ln>
        </p:spPr>
      </p:pic>
    </p:spTree>
    <p:extLst>
      <p:ext uri="{BB962C8B-B14F-4D97-AF65-F5344CB8AC3E}">
        <p14:creationId xmlns:p14="http://schemas.microsoft.com/office/powerpoint/2010/main" val="315482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4"/>
                </p:tgtEl>
              </p:cMediaNode>
            </p:video>
            <p:seq concurrent="1" nextAc="seek">
              <p:cTn id="32" restart="whenNotActive" fill="hold" evtFilter="cancelBubble" nodeType="interactiveSeq">
                <p:stCondLst>
                  <p:cond evt="onClick" delay="0">
                    <p:tgtEl>
                      <p:spTgt spid="4"/>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4"/>
                                        </p:tgtEl>
                                      </p:cBhvr>
                                    </p:cmd>
                                  </p:childTnLst>
                                </p:cTn>
                              </p:par>
                            </p:childTnLst>
                          </p:cTn>
                        </p:par>
                      </p:childTnLst>
                    </p:cTn>
                  </p:par>
                </p:childTnLst>
              </p:cTn>
              <p:nextCondLst>
                <p:cond evt="onClick" delay="0">
                  <p:tgtEl>
                    <p:spTgt spid="4"/>
                  </p:tgtEl>
                </p:cond>
              </p:nextCondLst>
            </p:seq>
          </p:childTnLst>
        </p:cTn>
      </p:par>
    </p:tnLst>
    <p:bldLst>
      <p:bldP spid="3" grpId="0" uiExpand="1" build="p"/>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905B-3CA1-98AA-19DE-EA7C1D1B965B}"/>
              </a:ext>
            </a:extLst>
          </p:cNvPr>
          <p:cNvSpPr>
            <a:spLocks noGrp="1"/>
          </p:cNvSpPr>
          <p:nvPr>
            <p:ph type="title"/>
          </p:nvPr>
        </p:nvSpPr>
        <p:spPr/>
        <p:txBody>
          <a:bodyPr/>
          <a:lstStyle/>
          <a:p>
            <a:r>
              <a:rPr lang="en-GB" dirty="0"/>
              <a:t>Presenting as a group </a:t>
            </a:r>
          </a:p>
        </p:txBody>
      </p:sp>
      <p:sp>
        <p:nvSpPr>
          <p:cNvPr id="3" name="Content Placeholder 2">
            <a:extLst>
              <a:ext uri="{FF2B5EF4-FFF2-40B4-BE49-F238E27FC236}">
                <a16:creationId xmlns:a16="http://schemas.microsoft.com/office/drawing/2014/main" id="{6BE94432-4BAA-A33F-6FA7-E5240670BBB4}"/>
              </a:ext>
            </a:extLst>
          </p:cNvPr>
          <p:cNvSpPr>
            <a:spLocks noGrp="1"/>
          </p:cNvSpPr>
          <p:nvPr>
            <p:ph idx="1"/>
          </p:nvPr>
        </p:nvSpPr>
        <p:spPr>
          <a:xfrm>
            <a:off x="203990" y="1482344"/>
            <a:ext cx="11717934" cy="4300637"/>
          </a:xfrm>
        </p:spPr>
        <p:txBody>
          <a:bodyPr/>
          <a:lstStyle/>
          <a:p>
            <a:r>
              <a:rPr lang="en-GB" sz="2400" b="1" dirty="0"/>
              <a:t>What are some benefits? And some challenges? </a:t>
            </a:r>
          </a:p>
          <a:p>
            <a:pPr marL="0" indent="0">
              <a:buNone/>
            </a:pPr>
            <a:endParaRPr lang="en-GB" sz="800" dirty="0"/>
          </a:p>
          <a:p>
            <a:pPr marL="0" indent="0">
              <a:buNone/>
            </a:pPr>
            <a:endParaRPr lang="en-GB" sz="800" dirty="0"/>
          </a:p>
          <a:p>
            <a:r>
              <a:rPr lang="en-GB" sz="2400" b="1" dirty="0"/>
              <a:t>Remember to consider:</a:t>
            </a:r>
          </a:p>
          <a:p>
            <a:pPr lvl="1">
              <a:lnSpc>
                <a:spcPct val="150000"/>
              </a:lnSpc>
            </a:pPr>
            <a:r>
              <a:rPr lang="en-GB" sz="2000" dirty="0"/>
              <a:t>How you want to introduce yourselves / your group. </a:t>
            </a:r>
          </a:p>
          <a:p>
            <a:pPr lvl="1">
              <a:lnSpc>
                <a:spcPct val="150000"/>
              </a:lnSpc>
            </a:pPr>
            <a:r>
              <a:rPr lang="en-GB" sz="2000" dirty="0"/>
              <a:t>Which group members are most confident at presenting? Does everyone need to present?</a:t>
            </a:r>
          </a:p>
          <a:p>
            <a:pPr lvl="1">
              <a:lnSpc>
                <a:spcPct val="150000"/>
              </a:lnSpc>
            </a:pPr>
            <a:r>
              <a:rPr lang="en-GB" sz="2000" dirty="0"/>
              <a:t>Do particular group members want to present specific sections? Can they be shared fairly?</a:t>
            </a:r>
          </a:p>
          <a:p>
            <a:pPr lvl="1">
              <a:lnSpc>
                <a:spcPct val="150000"/>
              </a:lnSpc>
            </a:pPr>
            <a:r>
              <a:rPr lang="en-GB" sz="2000" dirty="0"/>
              <a:t>How you will transition from one group member to the next. </a:t>
            </a:r>
          </a:p>
          <a:p>
            <a:pPr lvl="1">
              <a:lnSpc>
                <a:spcPct val="150000"/>
              </a:lnSpc>
            </a:pPr>
            <a:r>
              <a:rPr lang="en-GB" sz="2000" dirty="0"/>
              <a:t>Which group members might be best placed to answer certain questions. </a:t>
            </a:r>
          </a:p>
          <a:p>
            <a:pPr lvl="1"/>
            <a:endParaRPr lang="en-GB" dirty="0"/>
          </a:p>
          <a:p>
            <a:pPr lvl="1"/>
            <a:endParaRPr lang="en-GB" dirty="0"/>
          </a:p>
        </p:txBody>
      </p:sp>
    </p:spTree>
    <p:extLst>
      <p:ext uri="{BB962C8B-B14F-4D97-AF65-F5344CB8AC3E}">
        <p14:creationId xmlns:p14="http://schemas.microsoft.com/office/powerpoint/2010/main" val="156264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470493" y="1920755"/>
            <a:ext cx="4449060" cy="3505850"/>
          </a:xfrm>
          <a:prstGeom prst="rect">
            <a:avLst/>
          </a:prstGeom>
          <a:solidFill>
            <a:schemeClr val="accent6">
              <a:lumMod val="20000"/>
              <a:lumOff val="8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3"/>
              </a:buClr>
              <a:buNone/>
              <a:defRPr/>
            </a:pPr>
            <a:r>
              <a:rPr lang="en-GB" sz="3200" b="1" dirty="0">
                <a:cs typeface="Arial" charset="0"/>
              </a:rPr>
              <a:t>Common symptoms</a:t>
            </a:r>
          </a:p>
          <a:p>
            <a:pPr marL="0" indent="0">
              <a:lnSpc>
                <a:spcPct val="150000"/>
              </a:lnSpc>
              <a:buClr>
                <a:schemeClr val="accent3"/>
              </a:buClr>
              <a:buNone/>
              <a:defRPr/>
            </a:pPr>
            <a:r>
              <a:rPr lang="en-GB" sz="2400" dirty="0">
                <a:cs typeface="Arial" charset="0"/>
              </a:rPr>
              <a:t>Dry mouth.</a:t>
            </a:r>
          </a:p>
          <a:p>
            <a:pPr marL="0" indent="0">
              <a:lnSpc>
                <a:spcPct val="150000"/>
              </a:lnSpc>
              <a:buClr>
                <a:schemeClr val="accent3"/>
              </a:buClr>
              <a:buNone/>
              <a:defRPr/>
            </a:pPr>
            <a:r>
              <a:rPr lang="en-GB" sz="2400" dirty="0">
                <a:cs typeface="Arial" charset="0"/>
              </a:rPr>
              <a:t>Racing pulse.</a:t>
            </a:r>
          </a:p>
          <a:p>
            <a:pPr marL="0" indent="0">
              <a:lnSpc>
                <a:spcPct val="150000"/>
              </a:lnSpc>
              <a:buClr>
                <a:schemeClr val="accent3"/>
              </a:buClr>
              <a:buNone/>
              <a:defRPr/>
            </a:pPr>
            <a:r>
              <a:rPr lang="en-GB" sz="2400" dirty="0">
                <a:cs typeface="Arial" charset="0"/>
              </a:rPr>
              <a:t>Trembling.</a:t>
            </a:r>
          </a:p>
          <a:p>
            <a:pPr marL="0" indent="0">
              <a:lnSpc>
                <a:spcPct val="150000"/>
              </a:lnSpc>
              <a:buClr>
                <a:schemeClr val="accent3"/>
              </a:buClr>
              <a:buNone/>
              <a:defRPr/>
            </a:pPr>
            <a:r>
              <a:rPr lang="en-GB" sz="2400" dirty="0">
                <a:cs typeface="Arial" charset="0"/>
              </a:rPr>
              <a:t>Feeling short of breath.</a:t>
            </a:r>
          </a:p>
          <a:p>
            <a:pPr marL="0" indent="0">
              <a:lnSpc>
                <a:spcPct val="150000"/>
              </a:lnSpc>
              <a:buClr>
                <a:schemeClr val="accent3"/>
              </a:buClr>
              <a:buNone/>
              <a:defRPr/>
            </a:pPr>
            <a:r>
              <a:rPr lang="en-GB" sz="2400" dirty="0">
                <a:cs typeface="Arial" charset="0"/>
              </a:rPr>
              <a:t>Mind going blank.</a:t>
            </a:r>
          </a:p>
        </p:txBody>
      </p:sp>
      <p:sp>
        <p:nvSpPr>
          <p:cNvPr id="4" name="Rectangle 3">
            <a:extLst>
              <a:ext uri="{FF2B5EF4-FFF2-40B4-BE49-F238E27FC236}">
                <a16:creationId xmlns:a16="http://schemas.microsoft.com/office/drawing/2014/main" id="{9A49A6AC-3E98-D7E4-1518-F31B97322B97}"/>
              </a:ext>
            </a:extLst>
          </p:cNvPr>
          <p:cNvSpPr txBox="1">
            <a:spLocks noChangeArrowheads="1"/>
          </p:cNvSpPr>
          <p:nvPr/>
        </p:nvSpPr>
        <p:spPr>
          <a:xfrm>
            <a:off x="5901252" y="1920755"/>
            <a:ext cx="5717893" cy="3505850"/>
          </a:xfrm>
          <a:prstGeom prst="rect">
            <a:avLst/>
          </a:prstGeom>
          <a:solidFill>
            <a:schemeClr val="accent1">
              <a:lumMod val="20000"/>
              <a:lumOff val="8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Clr>
                <a:schemeClr val="accent3"/>
              </a:buClr>
              <a:buNone/>
              <a:defRPr/>
            </a:pPr>
            <a:r>
              <a:rPr lang="en-GB" sz="3200" b="1" dirty="0">
                <a:cs typeface="Arial" charset="0"/>
              </a:rPr>
              <a:t>Relaxation techniques</a:t>
            </a:r>
          </a:p>
          <a:p>
            <a:pPr marL="0" indent="0">
              <a:lnSpc>
                <a:spcPct val="150000"/>
              </a:lnSpc>
              <a:buClr>
                <a:schemeClr val="accent3"/>
              </a:buClr>
              <a:buNone/>
              <a:defRPr/>
            </a:pPr>
            <a:r>
              <a:rPr lang="en-GB" sz="2400" dirty="0">
                <a:cs typeface="Arial" charset="0"/>
              </a:rPr>
              <a:t>Take a drink with you. </a:t>
            </a:r>
          </a:p>
          <a:p>
            <a:pPr marL="0" indent="0">
              <a:lnSpc>
                <a:spcPct val="150000"/>
              </a:lnSpc>
              <a:buClr>
                <a:schemeClr val="accent3"/>
              </a:buClr>
              <a:buNone/>
              <a:defRPr/>
            </a:pPr>
            <a:r>
              <a:rPr lang="en-GB" sz="2400" dirty="0">
                <a:cs typeface="Arial" charset="0"/>
              </a:rPr>
              <a:t>Focus on breathing.</a:t>
            </a:r>
          </a:p>
          <a:p>
            <a:pPr marL="0" indent="0">
              <a:lnSpc>
                <a:spcPct val="150000"/>
              </a:lnSpc>
              <a:buClr>
                <a:schemeClr val="accent3"/>
              </a:buClr>
              <a:buNone/>
              <a:defRPr/>
            </a:pPr>
            <a:r>
              <a:rPr lang="en-GB" sz="2400" dirty="0">
                <a:cs typeface="Arial" charset="0"/>
              </a:rPr>
              <a:t>Draw attention away from yourself. </a:t>
            </a:r>
          </a:p>
          <a:p>
            <a:pPr marL="0" indent="0">
              <a:lnSpc>
                <a:spcPct val="150000"/>
              </a:lnSpc>
              <a:buClr>
                <a:schemeClr val="accent3"/>
              </a:buClr>
              <a:buNone/>
              <a:defRPr/>
            </a:pPr>
            <a:r>
              <a:rPr lang="en-GB" sz="2400" dirty="0">
                <a:cs typeface="Arial" charset="0"/>
              </a:rPr>
              <a:t>Make session more interactive.</a:t>
            </a:r>
          </a:p>
          <a:p>
            <a:pPr marL="0" indent="0">
              <a:lnSpc>
                <a:spcPct val="150000"/>
              </a:lnSpc>
              <a:buClr>
                <a:schemeClr val="accent3"/>
              </a:buClr>
              <a:buNone/>
              <a:defRPr/>
            </a:pPr>
            <a:r>
              <a:rPr lang="en-GB" sz="2400" dirty="0">
                <a:cs typeface="Arial" charset="0"/>
              </a:rPr>
              <a:t>Give yourself time.</a:t>
            </a:r>
          </a:p>
        </p:txBody>
      </p:sp>
      <p:sp>
        <p:nvSpPr>
          <p:cNvPr id="7" name="Title 6">
            <a:extLst>
              <a:ext uri="{FF2B5EF4-FFF2-40B4-BE49-F238E27FC236}">
                <a16:creationId xmlns:a16="http://schemas.microsoft.com/office/drawing/2014/main" id="{783CFAF7-784A-2522-2ED5-D24209B6BDFA}"/>
              </a:ext>
            </a:extLst>
          </p:cNvPr>
          <p:cNvSpPr>
            <a:spLocks noGrp="1"/>
          </p:cNvSpPr>
          <p:nvPr>
            <p:ph type="title"/>
          </p:nvPr>
        </p:nvSpPr>
        <p:spPr/>
        <p:txBody>
          <a:bodyPr/>
          <a:lstStyle/>
          <a:p>
            <a:r>
              <a:rPr lang="en-GB" dirty="0"/>
              <a:t>Dealing with nerves </a:t>
            </a:r>
          </a:p>
        </p:txBody>
      </p:sp>
    </p:spTree>
    <p:extLst>
      <p:ext uri="{BB962C8B-B14F-4D97-AF65-F5344CB8AC3E}">
        <p14:creationId xmlns:p14="http://schemas.microsoft.com/office/powerpoint/2010/main" val="129912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800" dirty="0"/>
              <a:t>Dealing with questions (if applicable)</a:t>
            </a:r>
          </a:p>
        </p:txBody>
      </p:sp>
      <p:sp>
        <p:nvSpPr>
          <p:cNvPr id="3" name="Content Placeholder 2"/>
          <p:cNvSpPr>
            <a:spLocks noGrp="1"/>
          </p:cNvSpPr>
          <p:nvPr>
            <p:ph idx="1"/>
          </p:nvPr>
        </p:nvSpPr>
        <p:spPr>
          <a:xfrm>
            <a:off x="203990" y="1482344"/>
            <a:ext cx="8739594" cy="4300637"/>
          </a:xfrm>
        </p:spPr>
        <p:txBody>
          <a:bodyPr>
            <a:noAutofit/>
          </a:bodyPr>
          <a:lstStyle/>
          <a:p>
            <a:pPr>
              <a:lnSpc>
                <a:spcPct val="150000"/>
              </a:lnSpc>
            </a:pPr>
            <a:r>
              <a:rPr lang="en-GB" sz="2400" dirty="0">
                <a:cs typeface="Arial"/>
              </a:rPr>
              <a:t>Think about what you might get asked.</a:t>
            </a:r>
          </a:p>
          <a:p>
            <a:pPr>
              <a:lnSpc>
                <a:spcPct val="150000"/>
              </a:lnSpc>
            </a:pPr>
            <a:r>
              <a:rPr lang="en-GB" sz="2400" dirty="0">
                <a:cs typeface="Arial"/>
              </a:rPr>
              <a:t>Are  certain team members best placed to tackle certain topics?</a:t>
            </a:r>
          </a:p>
          <a:p>
            <a:pPr>
              <a:lnSpc>
                <a:spcPct val="150000"/>
              </a:lnSpc>
            </a:pPr>
            <a:r>
              <a:rPr lang="en-GB" sz="2400" dirty="0">
                <a:cs typeface="Arial"/>
              </a:rPr>
              <a:t>Ask for clarification if you don’t understand what’s being asked.</a:t>
            </a:r>
          </a:p>
          <a:p>
            <a:pPr>
              <a:lnSpc>
                <a:spcPct val="150000"/>
              </a:lnSpc>
            </a:pPr>
            <a:r>
              <a:rPr lang="en-GB" sz="2400" dirty="0">
                <a:cs typeface="Arial"/>
              </a:rPr>
              <a:t>If you don’t have an immediate answer:</a:t>
            </a:r>
          </a:p>
          <a:p>
            <a:pPr lvl="1">
              <a:lnSpc>
                <a:spcPct val="150000"/>
              </a:lnSpc>
            </a:pPr>
            <a:r>
              <a:rPr lang="en-GB" dirty="0">
                <a:cs typeface="Arial"/>
              </a:rPr>
              <a:t>Take your time and don’t panic!</a:t>
            </a:r>
          </a:p>
          <a:p>
            <a:pPr lvl="1">
              <a:lnSpc>
                <a:spcPct val="150000"/>
              </a:lnSpc>
            </a:pPr>
            <a:r>
              <a:rPr lang="en-GB" dirty="0">
                <a:cs typeface="Arial"/>
              </a:rPr>
              <a:t>Explain you will look it up and get back</a:t>
            </a:r>
            <a:br>
              <a:rPr lang="en-GB" dirty="0">
                <a:cs typeface="Arial"/>
              </a:rPr>
            </a:br>
            <a:r>
              <a:rPr lang="en-GB" dirty="0">
                <a:cs typeface="Arial"/>
              </a:rPr>
              <a:t>to them.</a:t>
            </a:r>
          </a:p>
        </p:txBody>
      </p:sp>
      <p:pic>
        <p:nvPicPr>
          <p:cNvPr id="4" name="Picture 3" descr="Free Images : question, mark, answer, solution, sign, hand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4389" y="2605414"/>
            <a:ext cx="3587611" cy="2311020"/>
          </a:xfrm>
          <a:prstGeom prst="rect">
            <a:avLst/>
          </a:prstGeom>
        </p:spPr>
      </p:pic>
    </p:spTree>
    <p:extLst>
      <p:ext uri="{BB962C8B-B14F-4D97-AF65-F5344CB8AC3E}">
        <p14:creationId xmlns:p14="http://schemas.microsoft.com/office/powerpoint/2010/main" val="382352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9F48F1-B484-0757-CBE5-C386ADC79171}"/>
              </a:ext>
            </a:extLst>
          </p:cNvPr>
          <p:cNvSpPr>
            <a:spLocks noGrp="1"/>
          </p:cNvSpPr>
          <p:nvPr>
            <p:ph type="title"/>
          </p:nvPr>
        </p:nvSpPr>
        <p:spPr/>
        <p:txBody>
          <a:bodyPr/>
          <a:lstStyle/>
          <a:p>
            <a:r>
              <a:rPr lang="en-GB" dirty="0"/>
              <a:t>Typesetting maths in your presentations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228180BD-0121-1546-25DC-FC8395E56DE3}"/>
                  </a:ext>
                </a:extLst>
              </p:cNvPr>
              <p:cNvSpPr>
                <a:spLocks noGrp="1"/>
              </p:cNvSpPr>
              <p:nvPr>
                <p:ph idx="1"/>
              </p:nvPr>
            </p:nvSpPr>
            <p:spPr/>
            <p:txBody>
              <a:bodyPr/>
              <a:lstStyle/>
              <a:p>
                <a:r>
                  <a:rPr lang="en-GB" dirty="0"/>
                  <a:t>The Microsoft </a:t>
                </a:r>
                <a:r>
                  <a:rPr lang="en-GB" dirty="0" err="1"/>
                  <a:t>Powerpoint</a:t>
                </a:r>
                <a:r>
                  <a:rPr lang="en-GB" dirty="0"/>
                  <a:t> app should integrate the equation editor, as in Word, to allow you to typeset mathematical elements correctly, as in</a:t>
                </a:r>
              </a:p>
              <a:p>
                <a:pPr marL="0" indent="0" algn="ctr">
                  <a:buNone/>
                </a:pPr>
                <a:r>
                  <a:rPr lang="en-GB" dirty="0"/>
                  <a:t>If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nary>
                      <m:naryPr>
                        <m:ctrlPr>
                          <a:rPr lang="en-GB" b="0" i="1" smtClean="0">
                            <a:latin typeface="Cambria Math" panose="02040503050406030204" pitchFamily="18" charset="0"/>
                          </a:rPr>
                        </m:ctrlPr>
                      </m:naryPr>
                      <m:sub>
                        <m:r>
                          <a:rPr lang="en-GB" b="0" i="1" smtClean="0">
                            <a:latin typeface="Cambria Math" panose="02040503050406030204" pitchFamily="18" charset="0"/>
                          </a:rPr>
                          <m:t>0</m:t>
                        </m:r>
                      </m:sub>
                      <m:sup>
                        <m:r>
                          <a:rPr lang="en-GB" b="0" i="1" smtClean="0">
                            <a:latin typeface="Cambria Math" panose="02040503050406030204" pitchFamily="18" charset="0"/>
                          </a:rPr>
                          <m:t>𝑥</m:t>
                        </m:r>
                      </m:sup>
                      <m:e>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𝑡</m:t>
                            </m:r>
                          </m:e>
                        </m:d>
                        <m:r>
                          <a:rPr lang="en-GB" b="0" i="1" smtClean="0">
                            <a:latin typeface="Cambria Math" panose="02040503050406030204" pitchFamily="18" charset="0"/>
                          </a:rPr>
                          <m:t> </m:t>
                        </m:r>
                        <m:r>
                          <a:rPr lang="en-GB" b="0" i="1" smtClean="0">
                            <a:latin typeface="Cambria Math" panose="02040503050406030204" pitchFamily="18" charset="0"/>
                          </a:rPr>
                          <m:t>𝑑𝑡</m:t>
                        </m:r>
                      </m:e>
                    </m:nary>
                  </m:oMath>
                </a14:m>
                <a:r>
                  <a:rPr lang="en-GB" dirty="0"/>
                  <a:t> then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𝑑𝐹</m:t>
                        </m:r>
                      </m:num>
                      <m:den>
                        <m:r>
                          <a:rPr lang="en-GB" b="0" i="1" smtClean="0">
                            <a:latin typeface="Cambria Math" panose="02040503050406030204" pitchFamily="18" charset="0"/>
                          </a:rPr>
                          <m:t>𝑑𝑥</m:t>
                        </m:r>
                      </m:den>
                    </m:f>
                    <m:r>
                      <a:rPr lang="en-GB" b="0" i="1" smtClean="0">
                        <a:latin typeface="Cambria Math" panose="02040503050406030204" pitchFamily="18" charset="0"/>
                      </a:rPr>
                      <m: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oMath>
                </a14:m>
                <a:r>
                  <a:rPr lang="en-GB" dirty="0"/>
                  <a:t> </a:t>
                </a:r>
              </a:p>
              <a:p>
                <a:r>
                  <a:rPr lang="en-GB" dirty="0"/>
                  <a:t>We can also employ LaTeX by making use of the </a:t>
                </a:r>
                <a:r>
                  <a:rPr lang="en-GB" dirty="0">
                    <a:latin typeface="Courier New" panose="02070309020205020404" pitchFamily="49" charset="0"/>
                    <a:cs typeface="Courier New" panose="02070309020205020404" pitchFamily="49" charset="0"/>
                  </a:rPr>
                  <a:t>beamer </a:t>
                </a:r>
                <a:r>
                  <a:rPr lang="en-GB" dirty="0">
                    <a:cs typeface="Courier New" panose="02070309020205020404" pitchFamily="49" charset="0"/>
                  </a:rPr>
                  <a:t>document class. See the </a:t>
                </a:r>
                <a:r>
                  <a:rPr lang="en-GB" dirty="0">
                    <a:latin typeface="Courier New" panose="02070309020205020404" pitchFamily="49" charset="0"/>
                    <a:cs typeface="Courier New" panose="02070309020205020404" pitchFamily="49" charset="0"/>
                    <a:hlinkClick r:id="rId2"/>
                  </a:rPr>
                  <a:t>beamer</a:t>
                </a:r>
                <a:r>
                  <a:rPr lang="en-GB" dirty="0">
                    <a:cs typeface="Courier New" panose="02070309020205020404" pitchFamily="49" charset="0"/>
                    <a:hlinkClick r:id="rId2"/>
                  </a:rPr>
                  <a:t> section </a:t>
                </a:r>
                <a:r>
                  <a:rPr lang="en-GB" dirty="0">
                    <a:cs typeface="Courier New" panose="02070309020205020404" pitchFamily="49" charset="0"/>
                  </a:rPr>
                  <a:t>of </a:t>
                </a:r>
                <a:r>
                  <a:rPr lang="en-GB" dirty="0" err="1">
                    <a:cs typeface="Courier New" panose="02070309020205020404" pitchFamily="49" charset="0"/>
                  </a:rPr>
                  <a:t>Overleaf’s</a:t>
                </a:r>
                <a:r>
                  <a:rPr lang="en-GB" dirty="0">
                    <a:cs typeface="Courier New" panose="02070309020205020404" pitchFamily="49" charset="0"/>
                  </a:rPr>
                  <a:t> documentation.</a:t>
                </a:r>
                <a:endParaRPr lang="en-GB" dirty="0">
                  <a:latin typeface="Courier New" panose="02070309020205020404" pitchFamily="49" charset="0"/>
                  <a:cs typeface="Courier New" panose="02070309020205020404" pitchFamily="49" charset="0"/>
                </a:endParaRPr>
              </a:p>
            </p:txBody>
          </p:sp>
        </mc:Choice>
        <mc:Fallback xmlns="">
          <p:sp>
            <p:nvSpPr>
              <p:cNvPr id="5" name="Content Placeholder 4">
                <a:extLst>
                  <a:ext uri="{FF2B5EF4-FFF2-40B4-BE49-F238E27FC236}">
                    <a16:creationId xmlns:a16="http://schemas.microsoft.com/office/drawing/2014/main" id="{228180BD-0121-1546-25DC-FC8395E56DE3}"/>
                  </a:ext>
                </a:extLst>
              </p:cNvPr>
              <p:cNvSpPr>
                <a:spLocks noGrp="1" noRot="1" noChangeAspect="1" noMove="1" noResize="1" noEditPoints="1" noAdjustHandles="1" noChangeArrowheads="1" noChangeShapeType="1" noTextEdit="1"/>
              </p:cNvSpPr>
              <p:nvPr>
                <p:ph idx="1"/>
              </p:nvPr>
            </p:nvSpPr>
            <p:spPr>
              <a:blipFill>
                <a:blip r:embed="rId3"/>
                <a:stretch>
                  <a:fillRect l="-936" t="-2411"/>
                </a:stretch>
              </a:blipFill>
            </p:spPr>
            <p:txBody>
              <a:bodyPr/>
              <a:lstStyle/>
              <a:p>
                <a:r>
                  <a:rPr lang="en-GB">
                    <a:noFill/>
                  </a:rPr>
                  <a:t> </a:t>
                </a:r>
              </a:p>
            </p:txBody>
          </p:sp>
        </mc:Fallback>
      </mc:AlternateContent>
    </p:spTree>
    <p:extLst>
      <p:ext uri="{BB962C8B-B14F-4D97-AF65-F5344CB8AC3E}">
        <p14:creationId xmlns:p14="http://schemas.microsoft.com/office/powerpoint/2010/main" val="2070682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5F30-8CE7-453A-B22B-8843902DC1E7}"/>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72E95E35-D236-47F4-8A47-8C9DBD1CDF9D}"/>
              </a:ext>
            </a:extLst>
          </p:cNvPr>
          <p:cNvSpPr>
            <a:spLocks noGrp="1"/>
          </p:cNvSpPr>
          <p:nvPr>
            <p:ph idx="1"/>
          </p:nvPr>
        </p:nvSpPr>
        <p:spPr>
          <a:xfrm>
            <a:off x="237033" y="1278681"/>
            <a:ext cx="11717934" cy="4300637"/>
          </a:xfrm>
        </p:spPr>
        <p:txBody>
          <a:bodyPr/>
          <a:lstStyle/>
          <a:p>
            <a:pPr>
              <a:lnSpc>
                <a:spcPct val="150000"/>
              </a:lnSpc>
            </a:pPr>
            <a:r>
              <a:rPr lang="en-GB" dirty="0"/>
              <a:t>Take time to plan your presentation structure and prioritise your key points.</a:t>
            </a:r>
          </a:p>
          <a:p>
            <a:pPr>
              <a:lnSpc>
                <a:spcPct val="150000"/>
              </a:lnSpc>
            </a:pPr>
            <a:r>
              <a:rPr lang="en-GB" dirty="0"/>
              <a:t>Less is sometimes more: how can you keep slide text to a minimum?</a:t>
            </a:r>
          </a:p>
          <a:p>
            <a:pPr>
              <a:lnSpc>
                <a:spcPct val="150000"/>
              </a:lnSpc>
            </a:pPr>
            <a:r>
              <a:rPr lang="en-GB" dirty="0"/>
              <a:t>Embed effective visual aids throughout.</a:t>
            </a:r>
          </a:p>
          <a:p>
            <a:pPr>
              <a:lnSpc>
                <a:spcPct val="150000"/>
              </a:lnSpc>
            </a:pPr>
            <a:r>
              <a:rPr lang="en-GB" dirty="0"/>
              <a:t>Know your topic and deliver it with confidence. </a:t>
            </a:r>
          </a:p>
          <a:p>
            <a:pPr>
              <a:lnSpc>
                <a:spcPct val="150000"/>
              </a:lnSpc>
            </a:pPr>
            <a:r>
              <a:rPr lang="en-GB" dirty="0"/>
              <a:t>Check your timings.</a:t>
            </a:r>
          </a:p>
          <a:p>
            <a:pPr>
              <a:lnSpc>
                <a:spcPct val="150000"/>
              </a:lnSpc>
            </a:pPr>
            <a:r>
              <a:rPr lang="en-GB" dirty="0"/>
              <a:t>Prepare for likely audience questions. </a:t>
            </a:r>
          </a:p>
        </p:txBody>
      </p:sp>
    </p:spTree>
    <p:extLst>
      <p:ext uri="{BB962C8B-B14F-4D97-AF65-F5344CB8AC3E}">
        <p14:creationId xmlns:p14="http://schemas.microsoft.com/office/powerpoint/2010/main" val="254699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59F79-A536-4C5F-9C96-81DCC5AF0457}"/>
              </a:ext>
            </a:extLst>
          </p:cNvPr>
          <p:cNvSpPr>
            <a:spLocks noGrp="1"/>
          </p:cNvSpPr>
          <p:nvPr>
            <p:ph type="title"/>
          </p:nvPr>
        </p:nvSpPr>
        <p:spPr>
          <a:xfrm>
            <a:off x="203990" y="156781"/>
            <a:ext cx="11717934" cy="974435"/>
          </a:xfrm>
        </p:spPr>
        <p:txBody>
          <a:bodyPr/>
          <a:lstStyle/>
          <a:p>
            <a:r>
              <a:rPr lang="en-GB" dirty="0"/>
              <a:t>What questions do you have?</a:t>
            </a:r>
          </a:p>
        </p:txBody>
      </p:sp>
      <p:pic>
        <p:nvPicPr>
          <p:cNvPr id="1028" name="Picture 4">
            <a:extLst>
              <a:ext uri="{FF2B5EF4-FFF2-40B4-BE49-F238E27FC236}">
                <a16:creationId xmlns:a16="http://schemas.microsoft.com/office/drawing/2014/main" id="{2549BA03-1F1F-46A2-9720-208FBBB29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124" y="858485"/>
            <a:ext cx="10263728" cy="5570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347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8" name="Group 1"/>
          <p:cNvGrpSpPr/>
          <p:nvPr/>
        </p:nvGrpSpPr>
        <p:grpSpPr>
          <a:xfrm>
            <a:off x="767780" y="130029"/>
            <a:ext cx="10655333" cy="5877675"/>
            <a:chOff x="767880" y="129600"/>
            <a:chExt cx="10656720" cy="5878440"/>
          </a:xfrm>
        </p:grpSpPr>
        <p:sp>
          <p:nvSpPr>
            <p:cNvPr id="259" name="CustomShape 2"/>
            <p:cNvSpPr/>
            <p:nvPr/>
          </p:nvSpPr>
          <p:spPr>
            <a:xfrm>
              <a:off x="767880" y="129600"/>
              <a:ext cx="10656720" cy="5601240"/>
            </a:xfrm>
            <a:prstGeom prst="roundRect">
              <a:avLst>
                <a:gd name="adj" fmla="val 5126"/>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260" name="CustomShape 3"/>
            <p:cNvSpPr/>
            <p:nvPr/>
          </p:nvSpPr>
          <p:spPr>
            <a:xfrm flipH="1" flipV="1">
              <a:off x="6225120" y="234000"/>
              <a:ext cx="114840" cy="139680"/>
            </a:xfrm>
            <a:prstGeom prst="ellipse">
              <a:avLst/>
            </a:prstGeom>
            <a:solidFill>
              <a:srgbClr val="9AA5AE"/>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261" name="CustomShape 4"/>
            <p:cNvSpPr/>
            <p:nvPr/>
          </p:nvSpPr>
          <p:spPr>
            <a:xfrm>
              <a:off x="1132200" y="423000"/>
              <a:ext cx="9948600" cy="50162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262" name="CustomShape 5"/>
            <p:cNvSpPr/>
            <p:nvPr/>
          </p:nvSpPr>
          <p:spPr>
            <a:xfrm>
              <a:off x="3549600" y="5601240"/>
              <a:ext cx="5403960" cy="406800"/>
            </a:xfrm>
            <a:prstGeom prst="trapezoid">
              <a:avLst>
                <a:gd name="adj" fmla="val 25000"/>
              </a:avLst>
            </a:prstGeom>
            <a:ln/>
          </p:spPr>
          <p:style>
            <a:lnRef idx="2">
              <a:schemeClr val="dk1">
                <a:shade val="50000"/>
              </a:schemeClr>
            </a:lnRef>
            <a:fillRef idx="1">
              <a:schemeClr val="dk1"/>
            </a:fillRef>
            <a:effectRef idx="0">
              <a:schemeClr val="dk1"/>
            </a:effectRef>
            <a:fontRef idx="minor"/>
          </p:style>
          <p:txBody>
            <a:bodyPr/>
            <a:lstStyle/>
            <a:p>
              <a:endParaRPr lang="en-GB"/>
            </a:p>
          </p:txBody>
        </p:sp>
      </p:grpSp>
      <p:sp>
        <p:nvSpPr>
          <p:cNvPr id="263" name="CustomShape 6"/>
          <p:cNvSpPr/>
          <p:nvPr/>
        </p:nvSpPr>
        <p:spPr>
          <a:xfrm>
            <a:off x="1286832" y="668160"/>
            <a:ext cx="9654663" cy="510773"/>
          </a:xfrm>
          <a:prstGeom prst="rect">
            <a:avLst/>
          </a:prstGeom>
          <a:noFill/>
          <a:ln>
            <a:noFill/>
          </a:ln>
        </p:spPr>
        <p:style>
          <a:lnRef idx="0">
            <a:scrgbClr r="0" g="0" b="0"/>
          </a:lnRef>
          <a:fillRef idx="0">
            <a:scrgbClr r="0" g="0" b="0"/>
          </a:fillRef>
          <a:effectRef idx="0">
            <a:scrgbClr r="0" g="0" b="0"/>
          </a:effectRef>
          <a:fontRef idx="minor"/>
        </p:style>
        <p:txBody>
          <a:bodyPr lIns="89988" tIns="44994" rIns="89988" bIns="44994" anchor="ctr">
            <a:noAutofit/>
          </a:bodyPr>
          <a:lstStyle/>
          <a:p>
            <a:pPr>
              <a:lnSpc>
                <a:spcPct val="90000"/>
              </a:lnSpc>
            </a:pPr>
            <a:r>
              <a:rPr lang="en-GB" sz="3800" b="1" spc="-1">
                <a:solidFill>
                  <a:srgbClr val="000000"/>
                </a:solidFill>
                <a:latin typeface="Calibri"/>
              </a:rPr>
              <a:t>General writing and study skills support</a:t>
            </a:r>
            <a:endParaRPr lang="en-GB" sz="3800" spc="-1">
              <a:latin typeface="Arial"/>
            </a:endParaRPr>
          </a:p>
        </p:txBody>
      </p:sp>
      <p:sp>
        <p:nvSpPr>
          <p:cNvPr id="264" name="CustomShape 7"/>
          <p:cNvSpPr/>
          <p:nvPr/>
        </p:nvSpPr>
        <p:spPr>
          <a:xfrm>
            <a:off x="2431483" y="1424781"/>
            <a:ext cx="8276762" cy="1004989"/>
          </a:xfrm>
          <a:prstGeom prst="rect">
            <a:avLst/>
          </a:prstGeom>
          <a:noFill/>
          <a:ln>
            <a:noFill/>
          </a:ln>
        </p:spPr>
        <p:style>
          <a:lnRef idx="0">
            <a:scrgbClr r="0" g="0" b="0"/>
          </a:lnRef>
          <a:fillRef idx="0">
            <a:scrgbClr r="0" g="0" b="0"/>
          </a:fillRef>
          <a:effectRef idx="0">
            <a:scrgbClr r="0" g="0" b="0"/>
          </a:effectRef>
          <a:fontRef idx="minor"/>
        </p:style>
        <p:txBody>
          <a:bodyPr/>
          <a:lstStyle/>
          <a:p>
            <a:endParaRPr lang="en-GB"/>
          </a:p>
        </p:txBody>
      </p:sp>
      <p:sp>
        <p:nvSpPr>
          <p:cNvPr id="265" name="CustomShape 8"/>
          <p:cNvSpPr/>
          <p:nvPr/>
        </p:nvSpPr>
        <p:spPr>
          <a:xfrm>
            <a:off x="2431483" y="2738970"/>
            <a:ext cx="8276762" cy="518301"/>
          </a:xfrm>
          <a:prstGeom prst="rect">
            <a:avLst/>
          </a:prstGeom>
          <a:noFill/>
          <a:ln>
            <a:noFill/>
          </a:ln>
        </p:spPr>
        <p:style>
          <a:lnRef idx="0">
            <a:scrgbClr r="0" g="0" b="0"/>
          </a:lnRef>
          <a:fillRef idx="0">
            <a:scrgbClr r="0" g="0" b="0"/>
          </a:fillRef>
          <a:effectRef idx="0">
            <a:scrgbClr r="0" g="0" b="0"/>
          </a:effectRef>
          <a:fontRef idx="minor"/>
        </p:style>
        <p:txBody>
          <a:bodyPr lIns="89988" tIns="44994" rIns="89988" bIns="44994">
            <a:spAutoFit/>
          </a:bodyPr>
          <a:lstStyle/>
          <a:p>
            <a:pPr>
              <a:lnSpc>
                <a:spcPct val="125000"/>
              </a:lnSpc>
            </a:pPr>
            <a:r>
              <a:rPr lang="en-GB" sz="2400" spc="-1">
                <a:solidFill>
                  <a:srgbClr val="000000"/>
                </a:solidFill>
                <a:latin typeface="Calibri"/>
                <a:ea typeface="DejaVu Sans"/>
              </a:rPr>
              <a:t> </a:t>
            </a:r>
            <a:r>
              <a:rPr lang="en-GB" sz="2000" spc="-1">
                <a:solidFill>
                  <a:srgbClr val="000000"/>
                </a:solidFill>
                <a:latin typeface="Calibri"/>
                <a:ea typeface="DejaVu Sans"/>
              </a:rPr>
              <a:t>​ </a:t>
            </a:r>
            <a:endParaRPr lang="en-GB" sz="2000" spc="-1">
              <a:latin typeface="Arial"/>
            </a:endParaRPr>
          </a:p>
        </p:txBody>
      </p:sp>
      <p:sp>
        <p:nvSpPr>
          <p:cNvPr id="266" name="CustomShape 9"/>
          <p:cNvSpPr/>
          <p:nvPr/>
        </p:nvSpPr>
        <p:spPr>
          <a:xfrm>
            <a:off x="1287552" y="1800213"/>
            <a:ext cx="9654663" cy="1634294"/>
          </a:xfrm>
          <a:prstGeom prst="rect">
            <a:avLst/>
          </a:prstGeom>
          <a:noFill/>
          <a:ln>
            <a:noFill/>
          </a:ln>
        </p:spPr>
        <p:style>
          <a:lnRef idx="0">
            <a:scrgbClr r="0" g="0" b="0"/>
          </a:lnRef>
          <a:fillRef idx="0">
            <a:scrgbClr r="0" g="0" b="0"/>
          </a:fillRef>
          <a:effectRef idx="0">
            <a:scrgbClr r="0" g="0" b="0"/>
          </a:effectRef>
          <a:fontRef idx="minor"/>
        </p:style>
        <p:txBody>
          <a:bodyPr lIns="89988" tIns="44994" rIns="89988" bIns="44994" anchor="t">
            <a:spAutoFit/>
          </a:bodyPr>
          <a:lstStyle/>
          <a:p>
            <a:pPr algn="ctr">
              <a:lnSpc>
                <a:spcPct val="114000"/>
              </a:lnSpc>
            </a:pPr>
            <a:r>
              <a:rPr lang="en-GB" sz="2400" spc="-1" dirty="0">
                <a:solidFill>
                  <a:srgbClr val="000000"/>
                </a:solidFill>
                <a:latin typeface="Calibri"/>
                <a:ea typeface="DejaVu Sans"/>
              </a:rPr>
              <a:t>For more general support on writing and study skills from the university, please visit the </a:t>
            </a:r>
            <a:r>
              <a:rPr lang="en-GB" sz="2400" u="sng" spc="-1" dirty="0">
                <a:solidFill>
                  <a:srgbClr val="0563C1"/>
                </a:solidFill>
                <a:latin typeface="Calibri"/>
                <a:ea typeface="DejaVu Sans"/>
                <a:hlinkClick r:id="rId3"/>
              </a:rPr>
              <a:t>study skills webpages</a:t>
            </a:r>
            <a:r>
              <a:rPr lang="en-GB" sz="2400" spc="-1" dirty="0">
                <a:solidFill>
                  <a:srgbClr val="000000"/>
                </a:solidFill>
                <a:latin typeface="Calibri"/>
                <a:ea typeface="DejaVu Sans"/>
              </a:rPr>
              <a:t>.</a:t>
            </a:r>
            <a:endParaRPr lang="en-GB" sz="2400" spc="-1" dirty="0">
              <a:latin typeface="Arial"/>
            </a:endParaRPr>
          </a:p>
          <a:p>
            <a:pPr algn="ctr">
              <a:lnSpc>
                <a:spcPct val="114000"/>
              </a:lnSpc>
            </a:pPr>
            <a:br>
              <a:rPr dirty="0"/>
            </a:br>
            <a:endParaRPr lang="en-GB" sz="2400" spc="-1" dirty="0">
              <a:latin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aba611b8-ee8a-4e03-a2d3-61ddbab3e0a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384CC297-1695-40D7-B5F5-9BEBC429DB88}" vid="{AC911A45-A79B-4295-81D3-AA4B162BFEE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4C72BE29F6A643A61E6474A70AB5EE" ma:contentTypeVersion="15" ma:contentTypeDescription="Create a new document." ma:contentTypeScope="" ma:versionID="9c683ece3a8f3b4034c9f7662cb65d76">
  <xsd:schema xmlns:xsd="http://www.w3.org/2001/XMLSchema" xmlns:xs="http://www.w3.org/2001/XMLSchema" xmlns:p="http://schemas.microsoft.com/office/2006/metadata/properties" xmlns:ns2="005398ce-b8b8-493a-80e9-e70348adb218" xmlns:ns3="d2a2728c-9584-42b4-83a3-a3d3f3ec9d38" targetNamespace="http://schemas.microsoft.com/office/2006/metadata/properties" ma:root="true" ma:fieldsID="965d682b2b3d8390b94c71a6d5150caa" ns2:_="" ns3:_="">
    <xsd:import namespace="005398ce-b8b8-493a-80e9-e70348adb218"/>
    <xsd:import namespace="d2a2728c-9584-42b4-83a3-a3d3f3ec9d3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Notes0"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5398ce-b8b8-493a-80e9-e70348adb2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Notes0" ma:index="19" nillable="true" ma:displayName="Notes" ma:internalName="Notes0">
      <xsd:simpleType>
        <xsd:restriction base="dms:Text">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a2728c-9584-42b4-83a3-a3d3f3ec9d3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0 xmlns="005398ce-b8b8-493a-80e9-e70348adb218" xsi:nil="true"/>
  </documentManagement>
</p:properties>
</file>

<file path=customXml/itemProps1.xml><?xml version="1.0" encoding="utf-8"?>
<ds:datastoreItem xmlns:ds="http://schemas.openxmlformats.org/officeDocument/2006/customXml" ds:itemID="{2AA6E7C6-93AB-4B99-9B42-3E7FF0E152A9}">
  <ds:schemaRefs>
    <ds:schemaRef ds:uri="http://schemas.microsoft.com/sharepoint/v3/contenttype/forms"/>
  </ds:schemaRefs>
</ds:datastoreItem>
</file>

<file path=customXml/itemProps2.xml><?xml version="1.0" encoding="utf-8"?>
<ds:datastoreItem xmlns:ds="http://schemas.openxmlformats.org/officeDocument/2006/customXml" ds:itemID="{A097C6E3-5260-45FF-B76D-1A29F74B43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5398ce-b8b8-493a-80e9-e70348adb218"/>
    <ds:schemaRef ds:uri="d2a2728c-9584-42b4-83a3-a3d3f3ec9d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CE63BE-E982-45DC-BE10-A503E2376A1F}">
  <ds:schemaRefs>
    <ds:schemaRef ds:uri="d2a2728c-9584-42b4-83a3-a3d3f3ec9d38"/>
    <ds:schemaRef ds:uri="http://purl.org/dc/terms/"/>
    <ds:schemaRef ds:uri="http://schemas.microsoft.com/office/2006/documentManagement/types"/>
    <ds:schemaRef ds:uri="http://www.w3.org/XML/1998/namespace"/>
    <ds:schemaRef ds:uri="http://purl.org/dc/dcmitype/"/>
    <ds:schemaRef ds:uri="http://schemas.microsoft.com/office/infopath/2007/PartnerControls"/>
    <ds:schemaRef ds:uri="http://schemas.microsoft.com/office/2006/metadata/properties"/>
    <ds:schemaRef ds:uri="http://schemas.openxmlformats.org/package/2006/metadata/core-properties"/>
    <ds:schemaRef ds:uri="005398ce-b8b8-493a-80e9-e70348adb218"/>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LD template</Template>
  <TotalTime>792</TotalTime>
  <Words>1599</Words>
  <Application>Microsoft Office PowerPoint</Application>
  <PresentationFormat>Widescreen</PresentationFormat>
  <Paragraphs>179</Paragraphs>
  <Slides>21</Slides>
  <Notes>16</Notes>
  <HiddenSlides>0</HiddenSlides>
  <MMClips>4</MMClips>
  <ScaleCrop>false</ScaleCrop>
  <HeadingPairs>
    <vt:vector size="4" baseType="variant">
      <vt:variant>
        <vt:lpstr>Theme</vt:lpstr>
      </vt:variant>
      <vt:variant>
        <vt:i4>2</vt:i4>
      </vt:variant>
      <vt:variant>
        <vt:lpstr>Slide Titles</vt:lpstr>
      </vt:variant>
      <vt:variant>
        <vt:i4>21</vt:i4>
      </vt:variant>
    </vt:vector>
  </HeadingPairs>
  <TitlesOfParts>
    <vt:vector size="23" baseType="lpstr">
      <vt:lpstr>Office Theme</vt:lpstr>
      <vt:lpstr>Custom Design</vt:lpstr>
      <vt:lpstr>L4 Maths Group Presentations</vt:lpstr>
      <vt:lpstr>PowerPoint Presentation</vt:lpstr>
      <vt:lpstr>Reminder: your assignment</vt:lpstr>
      <vt:lpstr>Activity: what do you think of this presentation?</vt:lpstr>
      <vt:lpstr>PowerPoint Presentation</vt:lpstr>
      <vt:lpstr>PowerPoint Presentation</vt:lpstr>
      <vt:lpstr>What makes a bad presentation?</vt:lpstr>
      <vt:lpstr>Presentation structure </vt:lpstr>
      <vt:lpstr>Presentation timing </vt:lpstr>
      <vt:lpstr>An Example of a Parituclarly Bad Slide Layout for a Presentation (Slide Layout – Bad)</vt:lpstr>
      <vt:lpstr>Visual aids: top tips</vt:lpstr>
      <vt:lpstr>PowerPoint Presentation</vt:lpstr>
      <vt:lpstr>Non-verbal communication</vt:lpstr>
      <vt:lpstr>Practise makes perfect</vt:lpstr>
      <vt:lpstr>Presenting as a group </vt:lpstr>
      <vt:lpstr>Dealing with nerves </vt:lpstr>
      <vt:lpstr>Dealing with questions (if applicable)</vt:lpstr>
      <vt:lpstr>Typesetting maths in your presentations</vt:lpstr>
      <vt:lpstr>Summary</vt:lpstr>
      <vt:lpstr>What questions do you have?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Avril Buchanan</dc:creator>
  <cp:lastModifiedBy>Killian O'Brien</cp:lastModifiedBy>
  <cp:revision>51</cp:revision>
  <dcterms:created xsi:type="dcterms:W3CDTF">2018-06-12T14:15:56Z</dcterms:created>
  <dcterms:modified xsi:type="dcterms:W3CDTF">2025-11-07T10:46:38Z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0x010100EC4C72BE29F6A643A61E6474A70AB5EE</vt:lpwstr>
  </property>
</Properties>
</file>